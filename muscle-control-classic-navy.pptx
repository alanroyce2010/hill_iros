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3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>
        <p:scale>
          <a:sx n="75" d="100"/>
          <a:sy n="75" d="100"/>
        </p:scale>
        <p:origin x="144" y="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3678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Relationship Id="rId3" Type="http://schemas.openxmlformats.org/officeDocument/2006/relationships/hyperlink" Target="https://scifig.ai/go/a0pcn-nte" TargetMode="External"/><Relationship Id="rId4" Type="http://schemas.openxmlformats.org/officeDocument/2006/relationships/hyperlink" Target="https://scifig.ai/go/a0pcn-all" TargetMode="External"/><Relationship Id="rId5" Type="http://schemas.openxmlformats.org/officeDocument/2006/relationships/hyperlink" Target="https://scifig.ai/go/a0pcn-clr" TargetMode="Externa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Visual draft populated from the existing muscle-activation-control poster. Numerical results have not been independently revalidated. Original SciFig template preserved separately. Images fitted without cropping. Text and results table remain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130"/>
            </a:lvl1pPr>
            <a:lvl2pPr marL="457200" indent="0">
              <a:buNone/>
              <a:defRPr sz="2130"/>
            </a:lvl2pPr>
            <a:lvl3pPr marL="914400" indent="0">
              <a:buNone/>
              <a:defRPr sz="2130"/>
            </a:lvl3pPr>
            <a:lvl4pPr marL="1371600" indent="0">
              <a:buNone/>
              <a:defRPr sz="2130"/>
            </a:lvl4pPr>
            <a:lvl5pPr marL="1828800" indent="0">
              <a:buNone/>
              <a:defRPr sz="2130"/>
            </a:lvl5pPr>
            <a:lvl6pPr marL="2286000" indent="0">
              <a:buNone/>
              <a:defRPr sz="2130"/>
            </a:lvl6pPr>
            <a:lvl7pPr marL="2743200" indent="0">
              <a:buNone/>
              <a:defRPr sz="2130"/>
            </a:lvl7pPr>
            <a:lvl8pPr marL="3200400" indent="0">
              <a:buNone/>
              <a:defRPr sz="2130"/>
            </a:lvl8pPr>
            <a:lvl9pPr marL="3657600" indent="0">
              <a:buNone/>
              <a:defRPr sz="213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Background and why this problem matters.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Picture Placeholder 20"/>
          <p:cNvSpPr>
            <a:spLocks noGrp="1"/>
          </p:cNvSpPr>
          <p:nvPr>
            <p:ph type="pic" idx="20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130"/>
            </a:lvl1pPr>
            <a:lvl2pPr marL="457200" indent="0">
              <a:buNone/>
              <a:defRPr sz="2130"/>
            </a:lvl2pPr>
            <a:lvl3pPr marL="914400" indent="0">
              <a:buNone/>
              <a:defRPr sz="2130"/>
            </a:lvl3pPr>
            <a:lvl4pPr marL="1371600" indent="0">
              <a:buNone/>
              <a:defRPr sz="2130"/>
            </a:lvl4pPr>
            <a:lvl5pPr marL="1828800" indent="0">
              <a:buNone/>
              <a:defRPr sz="2130"/>
            </a:lvl5pPr>
            <a:lvl6pPr marL="2286000" indent="0">
              <a:buNone/>
              <a:defRPr sz="2130"/>
            </a:lvl6pPr>
            <a:lvl7pPr marL="2743200" indent="0">
              <a:buNone/>
              <a:defRPr sz="2130"/>
            </a:lvl7pPr>
            <a:lvl8pPr marL="3200400" indent="0">
              <a:buNone/>
              <a:defRPr sz="2130"/>
            </a:lvl8pPr>
            <a:lvl9pPr marL="3657600" indent="0">
              <a:buNone/>
              <a:defRPr sz="2130"/>
            </a:lvl9pPr>
          </a:lstStyle>
          <a:p>
            <a:endParaRPr lang="en-US"/>
          </a:p>
        </p:txBody>
      </p:sp>
      <p:sp>
        <p:nvSpPr>
          <p:cNvPr id="901" name="Picture Placeholder 21"/>
          <p:cNvSpPr>
            <a:spLocks noGrp="1"/>
          </p:cNvSpPr>
          <p:nvPr>
            <p:ph type="pic" idx="2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11"/>
            </a:lvl1pPr>
            <a:lvl2pPr marL="457200" indent="0">
              <a:buNone/>
              <a:defRPr sz="2411"/>
            </a:lvl2pPr>
            <a:lvl3pPr marL="914400" indent="0">
              <a:buNone/>
              <a:defRPr sz="2411"/>
            </a:lvl3pPr>
            <a:lvl4pPr marL="1371600" indent="0">
              <a:buNone/>
              <a:defRPr sz="2411"/>
            </a:lvl4pPr>
            <a:lvl5pPr marL="1828800" indent="0">
              <a:buNone/>
              <a:defRPr sz="2411"/>
            </a:lvl5pPr>
            <a:lvl6pPr marL="2286000" indent="0">
              <a:buNone/>
              <a:defRPr sz="2411"/>
            </a:lvl6pPr>
            <a:lvl7pPr marL="2743200" indent="0">
              <a:buNone/>
              <a:defRPr sz="2411"/>
            </a:lvl7pPr>
            <a:lvl8pPr marL="3200400" indent="0">
              <a:buNone/>
              <a:defRPr sz="2411"/>
            </a:lvl8pPr>
            <a:lvl9pPr marL="3657600" indent="0">
              <a:buNone/>
              <a:defRPr sz="2411"/>
            </a:lvl9pPr>
          </a:lstStyle>
          <a:p>
            <a:endParaRPr lang="en-US"/>
          </a:p>
        </p:txBody>
      </p:sp>
      <p:sp>
        <p:nvSpPr>
          <p:cNvPr id="902" name="Picture Placeholder 22"/>
          <p:cNvSpPr>
            <a:spLocks noGrp="1"/>
          </p:cNvSpPr>
          <p:nvPr>
            <p:ph type="pic" idx="22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11"/>
            </a:lvl1pPr>
            <a:lvl2pPr marL="457200" indent="0">
              <a:buNone/>
              <a:defRPr sz="2411"/>
            </a:lvl2pPr>
            <a:lvl3pPr marL="914400" indent="0">
              <a:buNone/>
              <a:defRPr sz="2411"/>
            </a:lvl3pPr>
            <a:lvl4pPr marL="1371600" indent="0">
              <a:buNone/>
              <a:defRPr sz="2411"/>
            </a:lvl4pPr>
            <a:lvl5pPr marL="1828800" indent="0">
              <a:buNone/>
              <a:defRPr sz="2411"/>
            </a:lvl5pPr>
            <a:lvl6pPr marL="2286000" indent="0">
              <a:buNone/>
              <a:defRPr sz="2411"/>
            </a:lvl6pPr>
            <a:lvl7pPr marL="2743200" indent="0">
              <a:buNone/>
              <a:defRPr sz="2411"/>
            </a:lvl7pPr>
            <a:lvl8pPr marL="3200400" indent="0">
              <a:buNone/>
              <a:defRPr sz="2411"/>
            </a:lvl8pPr>
            <a:lvl9pPr marL="3657600" indent="0">
              <a:buNone/>
              <a:defRPr sz="2411"/>
            </a:lvl9pPr>
          </a:lstStyle>
          <a:p>
            <a:endParaRPr lang="en-US"/>
          </a:p>
        </p:txBody>
      </p:sp>
      <p:sp>
        <p:nvSpPr>
          <p:cNvPr id="903" name="Picture Placeholder 23"/>
          <p:cNvSpPr>
            <a:spLocks noGrp="1"/>
          </p:cNvSpPr>
          <p:nvPr>
            <p:ph type="pic" idx="23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11"/>
            </a:lvl1pPr>
            <a:lvl2pPr marL="457200" indent="0">
              <a:buNone/>
              <a:defRPr sz="2411"/>
            </a:lvl2pPr>
            <a:lvl3pPr marL="914400" indent="0">
              <a:buNone/>
              <a:defRPr sz="2411"/>
            </a:lvl3pPr>
            <a:lvl4pPr marL="1371600" indent="0">
              <a:buNone/>
              <a:defRPr sz="2411"/>
            </a:lvl4pPr>
            <a:lvl5pPr marL="1828800" indent="0">
              <a:buNone/>
              <a:defRPr sz="2411"/>
            </a:lvl5pPr>
            <a:lvl6pPr marL="2286000" indent="0">
              <a:buNone/>
              <a:defRPr sz="2411"/>
            </a:lvl6pPr>
            <a:lvl7pPr marL="2743200" indent="0">
              <a:buNone/>
              <a:defRPr sz="2411"/>
            </a:lvl7pPr>
            <a:lvl8pPr marL="3200400" indent="0">
              <a:buNone/>
              <a:defRPr sz="2411"/>
            </a:lvl8pPr>
            <a:lvl9pPr marL="3657600" indent="0">
              <a:buNone/>
              <a:defRPr sz="2411"/>
            </a:lvl9pPr>
          </a:lstStyle>
          <a:p>
            <a:endParaRPr lang="en-US"/>
          </a:p>
        </p:txBody>
      </p:sp>
      <p:sp>
        <p:nvSpPr>
          <p:cNvPr id="904" name="Picture Placeholder 24"/>
          <p:cNvSpPr>
            <a:spLocks noGrp="1"/>
          </p:cNvSpPr>
          <p:nvPr>
            <p:ph type="pic" idx="24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1619"/>
            </a:lvl1pPr>
            <a:lvl2pPr marL="457200" indent="0">
              <a:buNone/>
              <a:defRPr sz="1619"/>
            </a:lvl2pPr>
            <a:lvl3pPr marL="914400" indent="0">
              <a:buNone/>
              <a:defRPr sz="1619"/>
            </a:lvl3pPr>
            <a:lvl4pPr marL="1371600" indent="0">
              <a:buNone/>
              <a:defRPr sz="1619"/>
            </a:lvl4pPr>
            <a:lvl5pPr marL="1828800" indent="0">
              <a:buNone/>
              <a:defRPr sz="1619"/>
            </a:lvl5pPr>
            <a:lvl6pPr marL="2286000" indent="0">
              <a:buNone/>
              <a:defRPr sz="1619"/>
            </a:lvl6pPr>
            <a:lvl7pPr marL="2743200" indent="0">
              <a:buNone/>
              <a:defRPr sz="1619"/>
            </a:lvl7pPr>
            <a:lvl8pPr marL="3200400" indent="0">
              <a:buNone/>
              <a:defRPr sz="1619"/>
            </a:lvl8pPr>
            <a:lvl9pPr marL="3657600" indent="0">
              <a:buNone/>
              <a:defRPr sz="1619"/>
            </a:lvl9pPr>
          </a:lstStyle>
          <a:p>
            <a:endParaRPr lang="en-US"/>
          </a:p>
        </p:txBody>
      </p:sp>
      <p:sp>
        <p:nvSpPr>
          <p:cNvPr id="905" name="Picture Placeholder 25"/>
          <p:cNvSpPr>
            <a:spLocks noGrp="1"/>
          </p:cNvSpPr>
          <p:nvPr>
            <p:ph type="pic" idx="25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800"/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  <a:lvl6pPr marL="2286000" indent="0">
              <a:buNone/>
              <a:defRPr sz="800"/>
            </a:lvl6pPr>
            <a:lvl7pPr marL="2743200" indent="0">
              <a:buNone/>
              <a:defRPr sz="800"/>
            </a:lvl7pPr>
            <a:lvl8pPr marL="3200400" indent="0">
              <a:buNone/>
              <a:defRPr sz="800"/>
            </a:lvl8pPr>
            <a:lvl9pPr marL="3657600" indent="0">
              <a:buNone/>
              <a:defRPr sz="800"/>
            </a:lvl9pPr>
          </a:lstStyle>
          <a:p>
            <a:endParaRPr lang="en-US"/>
          </a:p>
        </p:txBody>
      </p:sp>
      <p:sp>
        <p:nvSpPr>
          <p:cNvPr id="906" name="Picture Placeholder 26"/>
          <p:cNvSpPr>
            <a:spLocks noGrp="1"/>
          </p:cNvSpPr>
          <p:nvPr>
            <p:ph type="pic" idx="26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800"/>
            </a:lvl1pPr>
            <a:lvl2pPr marL="457200" indent="0">
              <a:buNone/>
              <a:defRPr sz="800"/>
            </a:lvl2pPr>
            <a:lvl3pPr marL="914400" indent="0">
              <a:buNone/>
              <a:defRPr sz="800"/>
            </a:lvl3pPr>
            <a:lvl4pPr marL="1371600" indent="0">
              <a:buNone/>
              <a:defRPr sz="800"/>
            </a:lvl4pPr>
            <a:lvl5pPr marL="1828800" indent="0">
              <a:buNone/>
              <a:defRPr sz="800"/>
            </a:lvl5pPr>
            <a:lvl6pPr marL="2286000" indent="0">
              <a:buNone/>
              <a:defRPr sz="800"/>
            </a:lvl6pPr>
            <a:lvl7pPr marL="2743200" indent="0">
              <a:buNone/>
              <a:defRPr sz="800"/>
            </a:lvl7pPr>
            <a:lvl8pPr marL="3200400" indent="0">
              <a:buNone/>
              <a:defRPr sz="800"/>
            </a:lvl8pPr>
            <a:lvl9pPr marL="3657600" indent="0">
              <a:buNone/>
              <a:defRPr sz="800"/>
            </a:lvl9pPr>
          </a:lstStyle>
          <a:p>
            <a:endParaRPr lang="en-US"/>
          </a:p>
        </p:txBody>
      </p:sp>
      <p:sp>
        <p:nvSpPr>
          <p:cNvPr id="950" name="Text Placeholder 40"/>
          <p:cNvSpPr>
            <a:spLocks noGrp="1"/>
          </p:cNvSpPr>
          <p:nvPr>
            <p:ph type="body" sz="half" idx="40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Study design, materials and analysis approach.</a:t>
            </a:r>
          </a:p>
        </p:txBody>
      </p:sp>
      <p:sp>
        <p:nvSpPr>
          <p:cNvPr id="951" name="Text Placeholder 41"/>
          <p:cNvSpPr>
            <a:spLocks noGrp="1"/>
          </p:cNvSpPr>
          <p:nvPr>
            <p:ph type="body" sz="half" idx="41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Your key findings — this section gets the most space.</a:t>
            </a:r>
          </a:p>
        </p:txBody>
      </p:sp>
      <p:sp>
        <p:nvSpPr>
          <p:cNvPr id="952" name="Text Placeholder 42"/>
          <p:cNvSpPr>
            <a:spLocks noGrp="1"/>
          </p:cNvSpPr>
          <p:nvPr>
            <p:ph type="body" sz="half" idx="4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What the figures show — read them together here.</a:t>
            </a:r>
          </a:p>
        </p:txBody>
      </p:sp>
      <p:sp>
        <p:nvSpPr>
          <p:cNvPr id="953" name="Text Placeholder 43"/>
          <p:cNvSpPr>
            <a:spLocks noGrp="1"/>
          </p:cNvSpPr>
          <p:nvPr>
            <p:ph type="body" sz="half" idx="43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How your results relate to existing work.</a:t>
            </a:r>
          </a:p>
        </p:txBody>
      </p:sp>
      <p:sp>
        <p:nvSpPr>
          <p:cNvPr id="954" name="Text Placeholder 44"/>
          <p:cNvSpPr>
            <a:spLocks noGrp="1"/>
          </p:cNvSpPr>
          <p:nvPr>
            <p:ph type="body" sz="half" idx="44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Main takeaways in one or two sentences.</a:t>
            </a:r>
          </a:p>
        </p:txBody>
      </p:sp>
      <p:sp>
        <p:nvSpPr>
          <p:cNvPr id="955" name="Text Placeholder 45"/>
          <p:cNvSpPr>
            <a:spLocks noGrp="1"/>
          </p:cNvSpPr>
          <p:nvPr>
            <p:ph type="body" sz="half" idx="45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1. Author A, et al. Journal. Year;Vol(Issue):Pages.</a:t>
            </a:r>
          </a:p>
        </p:txBody>
      </p:sp>
      <p:sp>
        <p:nvSpPr>
          <p:cNvPr id="956" name="Text Placeholder 46"/>
          <p:cNvSpPr>
            <a:spLocks noGrp="1"/>
          </p:cNvSpPr>
          <p:nvPr>
            <p:ph type="body" sz="half" idx="46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sz="2600">
                <a:solidFill>
                  <a:srgbClr val="70767D"/>
                </a:solidFill>
                <a:latin typeface="Arial"/>
              </a:rPr>
              <a:t>Click to edit text — Funding sources, collaborators and facilities.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emf"/><Relationship Id="rId4" Type="http://schemas.openxmlformats.org/officeDocument/2006/relationships/hyperlink" Target="https://scifig.ai/go/a0pcn-ftr" TargetMode="External"/><Relationship Id="rId5" Type="http://schemas.openxmlformats.org/officeDocument/2006/relationships/hyperlink" Target="https://scifig.ai/go/a0pcn-fig" TargetMode="External"/><Relationship Id="rId6" Type="http://schemas.openxmlformats.org/officeDocument/2006/relationships/hyperlink" Target="https://scifig.ai/go/a0pcn-qrc" TargetMode="External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Relationship Id="rId10" Type="http://schemas.openxmlformats.org/officeDocument/2006/relationships/image" Target="../media/image5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header-band"/>
          <p:cNvSpPr/>
          <p:nvPr/>
        </p:nvSpPr>
        <p:spPr>
          <a:xfrm>
            <a:off x="0" y="0"/>
            <a:ext cx="30275784" cy="436991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logo-hint"/>
          <p:cNvSpPr txBox="1"/>
          <p:nvPr/>
        </p:nvSpPr>
        <p:spPr>
          <a:xfrm>
            <a:off x="635873" y="1325880"/>
            <a:ext cx="4221340" cy="1371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252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IIT MADRAS</a:t>
            </a:r>
            <a:br/>
            <a:r>
              <a:t>POSTER 5</a:t>
            </a:r>
          </a:p>
        </p:txBody>
      </p:sp>
      <p:sp>
        <p:nvSpPr>
          <p:cNvPr id="22" name="poster-title"/>
          <p:cNvSpPr txBox="1"/>
          <p:nvPr/>
        </p:nvSpPr>
        <p:spPr>
          <a:xfrm>
            <a:off x="5493087" y="539750"/>
            <a:ext cx="23934864" cy="1381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5320"/>
              </a:spcAft>
              <a:defRPr sz="7600" b="1">
                <a:solidFill>
                  <a:srgbClr val="FFFFFF"/>
                </a:solidFill>
                <a:latin typeface="Arial"/>
              </a:defRPr>
            </a:pPr>
            <a:r>
              <a:t>Non-Smooth Equilibria in Hill-Type Muscle Models</a:t>
            </a:r>
          </a:p>
        </p:txBody>
      </p:sp>
      <p:sp>
        <p:nvSpPr>
          <p:cNvPr id="23" name="poster-authors"/>
          <p:cNvSpPr txBox="1"/>
          <p:nvPr/>
        </p:nvSpPr>
        <p:spPr>
          <a:xfrm>
            <a:off x="5493087" y="2207412"/>
            <a:ext cx="23934864" cy="9530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3359"/>
              </a:spcAft>
              <a:defRPr sz="4800" b="0">
                <a:solidFill>
                  <a:srgbClr val="FFFFFF"/>
                </a:solidFill>
                <a:latin typeface="Arial"/>
              </a:defRPr>
            </a:pPr>
            <a:r>
              <a:t>Alan Royce Gabriel Samuel</a:t>
            </a:r>
          </a:p>
        </p:txBody>
      </p:sp>
      <p:sp>
        <p:nvSpPr>
          <p:cNvPr id="24" name="poster-affiliations"/>
          <p:cNvSpPr txBox="1"/>
          <p:nvPr/>
        </p:nvSpPr>
        <p:spPr>
          <a:xfrm>
            <a:off x="5493087" y="3160420"/>
            <a:ext cx="23934864" cy="9783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2100"/>
              </a:spcAft>
              <a:defRPr sz="3000" b="0">
                <a:solidFill>
                  <a:srgbClr val="FFFFFF"/>
                </a:solidFill>
                <a:latin typeface="Arial"/>
              </a:defRPr>
            </a:pPr>
            <a:r>
              <a:t>Indian Institute of Technology Madras, Chennai, India</a:t>
            </a:r>
            <a:br/>
            <a:r>
              <a:t>IROS 2026 · Workshop on Neuromuscular Robotics</a:t>
            </a:r>
          </a:p>
        </p:txBody>
      </p:sp>
      <p:sp>
        <p:nvSpPr>
          <p:cNvPr id="25" name="footer-band"/>
          <p:cNvSpPr/>
          <p:nvPr/>
        </p:nvSpPr>
        <p:spPr>
          <a:xfrm>
            <a:off x="0" y="41604285"/>
            <a:ext cx="30275784" cy="119877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footer-rule"/>
          <p:cNvSpPr/>
          <p:nvPr/>
        </p:nvSpPr>
        <p:spPr>
          <a:xfrm>
            <a:off x="0" y="41604285"/>
            <a:ext cx="30275784" cy="7192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footer-credit"/>
          <p:cNvSpPr txBox="1"/>
          <p:nvPr/>
        </p:nvSpPr>
        <p:spPr>
          <a:xfrm>
            <a:off x="1059789" y="41963919"/>
            <a:ext cx="28156204" cy="53945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1679"/>
              </a:spcAft>
              <a:defRPr sz="2400" b="0">
                <a:solidFill>
                  <a:srgbClr val="17365D"/>
                </a:solidFill>
                <a:latin typeface="Arial"/>
              </a:defRPr>
            </a:pPr>
            <a:r>
              <a:t>IROS 2026 · 1st Workshop on Neuromuscular Robotics · Poster 5   |   Layout: SciFig AI Classic Navy</a:t>
            </a:r>
          </a:p>
        </p:txBody>
      </p:sp>
      <p:sp>
        <p:nvSpPr>
          <p:cNvPr id="28" name="sec-introd"/>
          <p:cNvSpPr/>
          <p:nvPr/>
        </p:nvSpPr>
        <p:spPr>
          <a:xfrm>
            <a:off x="1059789" y="4952801"/>
            <a:ext cx="8083387" cy="17556134"/>
          </a:xfrm>
          <a:prstGeom prst="rect">
            <a:avLst/>
          </a:prstGeom>
          <a:noFill/>
          <a:ln w="9525">
            <a:solidFill>
              <a:srgbClr val="C4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sec-introd-head"/>
          <p:cNvSpPr/>
          <p:nvPr/>
        </p:nvSpPr>
        <p:spPr>
          <a:xfrm>
            <a:off x="1059789" y="4952801"/>
            <a:ext cx="8083387" cy="1085850"/>
          </a:xfrm>
          <a:prstGeom prst="rect">
            <a:avLst/>
          </a:prstGeom>
          <a:solidFill>
            <a:schemeClr val="accent1">
              <a:lumMod val="72000"/>
              <a:lumOff val="2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sec-introd-title"/>
          <p:cNvSpPr txBox="1"/>
          <p:nvPr/>
        </p:nvSpPr>
        <p:spPr>
          <a:xfrm>
            <a:off x="1237624" y="5169971"/>
            <a:ext cx="7727718" cy="7600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>
                <a:solidFill>
                  <a:srgbClr val="FFFFFF"/>
                </a:solidFill>
                <a:latin typeface="Arial"/>
              </a:rPr>
              <a:t>INTRODUCTION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7624" y="6255821"/>
            <a:ext cx="7727718" cy="9643047"/>
          </a:xfrm>
        </p:spPr>
        <p:txBody>
          <a:bodyPr wrap="square" lIns="27432" rIns="27432" tIns="18288" bIns="18288" anchor="t"/>
          <a:lstStyle/>
          <a:p>
            <a:pPr>
              <a:lnSpc>
                <a:spcPct val="114000"/>
              </a:lnSpc>
              <a:spcAft>
                <a:spcPts val="2100"/>
              </a:spcAft>
              <a:defRPr sz="3000" b="1">
                <a:solidFill>
                  <a:srgbClr val="253446"/>
                </a:solidFill>
                <a:latin typeface="Arial"/>
              </a:defRPr>
            </a:pPr>
            <a:r>
              <a:t>One equilibrium. Four directional linear models.</a:t>
            </a:r>
            <a:endParaRPr/>
          </a:p>
          <a:p>
            <a:pPr>
              <a:lnSpc>
                <a:spcPct val="114000"/>
              </a:lnSpc>
              <a:spcAft>
                <a:spcPts val="2100"/>
              </a:spcAft>
              <a:defRPr sz="3000" b="0">
                <a:solidFill>
                  <a:srgbClr val="253446"/>
                </a:solidFill>
                <a:latin typeface="Arial"/>
              </a:defRPr>
            </a:pPr>
            <a:r>
              <a:t>Muscle-driven robots, prostheses and exosuits often use controllers designed around an equilibrium linearization. This assumes that a single local model describes small perturbations.</a:t>
            </a:r>
          </a:p>
          <a:p>
            <a:pPr>
              <a:lnSpc>
                <a:spcPct val="114000"/>
              </a:lnSpc>
              <a:spcAft>
                <a:spcPts val="2100"/>
              </a:spcAft>
              <a:defRPr sz="3000" b="0">
                <a:solidFill>
                  <a:srgbClr val="253446"/>
                </a:solidFill>
                <a:latin typeface="Arial"/>
              </a:defRPr>
            </a:pPr>
            <a:r>
              <a:t>The Hill-type formulation studied here switches twice: activation dynamics changes when excitation crosses activation, and the force–velocity relation changes between shortening and lengthening.</a:t>
            </a:r>
          </a:p>
          <a:p>
            <a:pPr>
              <a:lnSpc>
                <a:spcPct val="114000"/>
              </a:lnSpc>
              <a:spcAft>
                <a:spcPts val="2100"/>
              </a:spcAft>
              <a:defRPr sz="3000" b="0">
                <a:solidFill>
                  <a:srgbClr val="253446"/>
                </a:solidFill>
                <a:latin typeface="Arial"/>
              </a:defRPr>
            </a:pPr>
            <a:r>
              <a:t>At equilibrium, excitation equals activation and velocity is zero. Both switching surfaces therefore pass through the operating point.</a:t>
            </a:r>
          </a:p>
          <a:p>
            <a:pPr>
              <a:lnSpc>
                <a:spcPct val="114000"/>
              </a:lnSpc>
              <a:spcAft>
                <a:spcPts val="2100"/>
              </a:spcAft>
              <a:defRPr sz="3000" b="0">
                <a:solidFill>
                  <a:srgbClr val="253446"/>
                </a:solidFill>
                <a:latin typeface="Arial"/>
              </a:defRPr>
            </a:pPr>
            <a:r>
              <a:t>Question: how much does the choice of branch affect prediction and closed-loop control?</a:t>
            </a:r>
          </a:p>
        </p:txBody>
      </p:sp>
      <p:sp>
        <p:nvSpPr>
          <p:cNvPr id="31" name="fig-1-caption"/>
          <p:cNvSpPr txBox="1"/>
          <p:nvPr/>
        </p:nvSpPr>
        <p:spPr>
          <a:xfrm>
            <a:off x="1237624" y="21551453"/>
            <a:ext cx="7727718" cy="7796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4000"/>
              </a:lnSpc>
              <a:spcAft>
                <a:spcPts val="1539"/>
              </a:spcAft>
              <a:defRPr sz="2200" b="0">
                <a:solidFill>
                  <a:srgbClr val="253446"/>
                </a:solidFill>
                <a:latin typeface="Arial"/>
              </a:defRPr>
            </a:pPr>
            <a:r>
              <a:t>Activation slopes differ by 7.45× at the reference equilibrium; velocity slopes differ by 2×.</a:t>
            </a:r>
          </a:p>
        </p:txBody>
      </p:sp>
      <p:sp>
        <p:nvSpPr>
          <p:cNvPr id="32" name="sec-method"/>
          <p:cNvSpPr/>
          <p:nvPr/>
        </p:nvSpPr>
        <p:spPr>
          <a:xfrm>
            <a:off x="1059789" y="22879862"/>
            <a:ext cx="8083387" cy="18141538"/>
          </a:xfrm>
          <a:prstGeom prst="rect">
            <a:avLst/>
          </a:prstGeom>
          <a:noFill/>
          <a:ln w="9525">
            <a:solidFill>
              <a:srgbClr val="C4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sec-method-head"/>
          <p:cNvSpPr/>
          <p:nvPr/>
        </p:nvSpPr>
        <p:spPr>
          <a:xfrm>
            <a:off x="1059789" y="22879862"/>
            <a:ext cx="8083387" cy="1085850"/>
          </a:xfrm>
          <a:prstGeom prst="rect">
            <a:avLst/>
          </a:prstGeom>
          <a:solidFill>
            <a:schemeClr val="accent1">
              <a:lumMod val="72000"/>
              <a:lumOff val="2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sec-method-title"/>
          <p:cNvSpPr txBox="1"/>
          <p:nvPr/>
        </p:nvSpPr>
        <p:spPr>
          <a:xfrm>
            <a:off x="1237624" y="23097032"/>
            <a:ext cx="7727718" cy="7600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>
                <a:solidFill>
                  <a:srgbClr val="FFFFFF"/>
                </a:solidFill>
                <a:latin typeface="Arial"/>
              </a:rPr>
              <a:t>METHODS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half" idx="40"/>
          </p:nvPr>
        </p:nvSpPr>
        <p:spPr>
          <a:xfrm>
            <a:off x="1237624" y="24182882"/>
            <a:ext cx="7727718" cy="10228452"/>
          </a:xfrm>
        </p:spPr>
        <p:txBody>
          <a:bodyPr wrap="square" lIns="27432" rIns="27432" tIns="18288" bIns="18288" anchor="t"/>
          <a:lstStyle/>
          <a:p>
            <a:pPr>
              <a:lnSpc>
                <a:spcPct val="114000"/>
              </a:lnSpc>
              <a:spcAft>
                <a:spcPts val="2100"/>
              </a:spcAft>
              <a:defRPr sz="3000" b="1">
                <a:solidFill>
                  <a:srgbClr val="253446"/>
                </a:solidFill>
                <a:latin typeface="Arial"/>
              </a:defRPr>
            </a:pPr>
            <a:r>
              <a:t>A simulated elbow against gravity</a:t>
            </a:r>
            <a:endParaRPr/>
          </a:p>
          <a:p>
            <a:pPr>
              <a:lnSpc>
                <a:spcPct val="114000"/>
              </a:lnSpc>
              <a:spcAft>
                <a:spcPts val="2100"/>
              </a:spcAft>
              <a:defRPr sz="3000" b="0">
                <a:solidFill>
                  <a:srgbClr val="253446"/>
                </a:solidFill>
                <a:latin typeface="Arial"/>
              </a:defRPr>
            </a:pPr>
            <a:r>
              <a:t>A forearm–hand pendulum is driven by a rigid-tendon Hill-type brachialis model. Muscle parameters follow Holzbaur; activation dynamics follows Thelen; moment arms are digitized from Murray et al.</a:t>
            </a:r>
          </a:p>
          <a:p>
            <a:pPr>
              <a:lnSpc>
                <a:spcPct val="114000"/>
              </a:lnSpc>
              <a:spcAft>
                <a:spcPts val="2100"/>
              </a:spcAft>
              <a:defRPr sz="3000" b="0">
                <a:solidFill>
                  <a:srgbClr val="253446"/>
                </a:solidFill>
                <a:latin typeface="Arial"/>
              </a:defRPr>
            </a:pPr>
            <a:r>
              <a:t>Reference posture: 60°</a:t>
            </a:r>
            <a:br/>
            <a:r>
              <a:t>Equilibrium activation: 0.113</a:t>
            </a:r>
          </a:p>
          <a:p>
            <a:pPr>
              <a:lnSpc>
                <a:spcPct val="114000"/>
              </a:lnSpc>
              <a:spcAft>
                <a:spcPts val="2100"/>
              </a:spcAft>
              <a:defRPr sz="3000" b="0">
                <a:solidFill>
                  <a:srgbClr val="253446"/>
                </a:solidFill>
                <a:latin typeface="Arial"/>
              </a:defRPr>
            </a:pPr>
            <a:r>
              <a:t>Prediction test: apply a small +0.01 excitation step and compare all four local models with the nonlinear trajectory.</a:t>
            </a:r>
          </a:p>
          <a:p>
            <a:pPr>
              <a:lnSpc>
                <a:spcPct val="114000"/>
              </a:lnSpc>
              <a:spcAft>
                <a:spcPts val="2100"/>
              </a:spcAft>
              <a:defRPr sz="3000" b="0">
                <a:solidFill>
                  <a:srgbClr val="253446"/>
                </a:solidFill>
                <a:latin typeface="Arial"/>
              </a:defRPr>
            </a:pPr>
            <a:r>
              <a:t>Feedback test: linear MPC with a 10 ms sample time and 20-step horizon. Keep controller weights fixed; vary only the branch and linearization point.</a:t>
            </a:r>
          </a:p>
          <a:p>
            <a:pPr>
              <a:lnSpc>
                <a:spcPct val="114000"/>
              </a:lnSpc>
              <a:spcAft>
                <a:spcPts val="2100"/>
              </a:spcAft>
              <a:defRPr sz="3000" b="0">
                <a:solidFill>
                  <a:srgbClr val="253446"/>
                </a:solidFill>
                <a:latin typeface="Arial"/>
              </a:defRPr>
            </a:pPr>
            <a:r>
              <a:t>Extensions: held-load equilibria, a brachialis–triceps antagonist pair, noise, plant mismatch and delay.</a:t>
            </a:r>
          </a:p>
        </p:txBody>
      </p:sp>
      <p:sp>
        <p:nvSpPr>
          <p:cNvPr id="35" name="fig-2-caption"/>
          <p:cNvSpPr txBox="1"/>
          <p:nvPr/>
        </p:nvSpPr>
        <p:spPr>
          <a:xfrm>
            <a:off x="1237624" y="40063918"/>
            <a:ext cx="7727718" cy="7796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4000"/>
              </a:lnSpc>
              <a:spcAft>
                <a:spcPts val="1539"/>
              </a:spcAft>
              <a:defRPr sz="2200" b="0">
                <a:solidFill>
                  <a:srgbClr val="253446"/>
                </a:solidFill>
                <a:latin typeface="Arial"/>
              </a:defRPr>
            </a:pPr>
            <a:r>
              <a:t>Model checks: moment arm and torque–angle relationship. Brachialis peaks at 25.8 N m near 94°.</a:t>
            </a:r>
          </a:p>
        </p:txBody>
      </p:sp>
      <p:sp>
        <p:nvSpPr>
          <p:cNvPr id="36" name="sec-result"/>
          <p:cNvSpPr/>
          <p:nvPr/>
        </p:nvSpPr>
        <p:spPr>
          <a:xfrm>
            <a:off x="9870125" y="4952801"/>
            <a:ext cx="10535533" cy="360685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sec-result-head"/>
          <p:cNvSpPr/>
          <p:nvPr/>
        </p:nvSpPr>
        <p:spPr>
          <a:xfrm>
            <a:off x="9870125" y="4952801"/>
            <a:ext cx="10535533" cy="10858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sec-result-title"/>
          <p:cNvSpPr txBox="1"/>
          <p:nvPr/>
        </p:nvSpPr>
        <p:spPr>
          <a:xfrm>
            <a:off x="10101906" y="5169971"/>
            <a:ext cx="10071970" cy="7600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>
                <a:solidFill>
                  <a:srgbClr val="FFFFFF"/>
                </a:solidFill>
                <a:latin typeface="Arial"/>
              </a:rPr>
              <a:t>RESULTS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half" idx="41"/>
          </p:nvPr>
        </p:nvSpPr>
        <p:spPr>
          <a:xfrm>
            <a:off x="10101906" y="6255821"/>
            <a:ext cx="10071970" cy="11133539"/>
          </a:xfrm>
        </p:spPr>
        <p:txBody>
          <a:bodyPr wrap="square" lIns="27432" rIns="27432" tIns="18288" bIns="18288" anchor="t"/>
          <a:lstStyle/>
          <a:p>
            <a:pPr>
              <a:lnSpc>
                <a:spcPct val="114000"/>
              </a:lnSpc>
              <a:spcAft>
                <a:spcPts val="2240"/>
              </a:spcAft>
              <a:defRPr sz="3200" b="1">
                <a:solidFill>
                  <a:srgbClr val="253446"/>
                </a:solidFill>
                <a:latin typeface="Arial"/>
              </a:defRPr>
            </a:pPr>
            <a:r>
              <a:t>14–75% prediction error from a wrong branch</a:t>
            </a:r>
            <a:endParaRPr/>
          </a:p>
          <a:p>
            <a:pPr>
              <a:lnSpc>
                <a:spcPct val="114000"/>
              </a:lnSpc>
              <a:spcAft>
                <a:spcPts val="2240"/>
              </a:spcAft>
              <a:defRPr sz="3200" b="0">
                <a:solidFill>
                  <a:srgbClr val="253446"/>
                </a:solidFill>
                <a:latin typeface="Arial"/>
              </a:defRPr>
            </a:pPr>
            <a:r>
              <a:t>At the reference posture, matched-branch error stays near 1% of the true angular swing. Mismatched models diverge within 50–100 ms.</a:t>
            </a:r>
          </a:p>
          <a:p>
            <a:pPr>
              <a:lnSpc>
                <a:spcPct val="114000"/>
              </a:lnSpc>
              <a:spcAft>
                <a:spcPts val="2240"/>
              </a:spcAft>
              <a:defRPr sz="3200" b="0">
                <a:solidFill>
                  <a:srgbClr val="253446"/>
                </a:solidFill>
                <a:latin typeface="Arial"/>
              </a:defRPr>
            </a:pPr>
            <a:r>
              <a:t>At 50 ms: wrong activation branch, 71%; wrong velocity branch, 14%; both wrong, 75%. These are errors relative to the true swing, not absolute angles.</a:t>
            </a:r>
          </a:p>
          <a:p>
            <a:pPr>
              <a:lnSpc>
                <a:spcPct val="114000"/>
              </a:lnSpc>
              <a:spcAft>
                <a:spcPts val="2240"/>
              </a:spcAft>
              <a:defRPr sz="3200" b="0">
                <a:solidFill>
                  <a:srgbClr val="253446"/>
                </a:solidFill>
                <a:latin typeface="Arial"/>
              </a:defRPr>
            </a:pPr>
            <a:r>
              <a:t>The effect persists across operating points</a:t>
            </a:r>
          </a:p>
          <a:p>
            <a:pPr>
              <a:lnSpc>
                <a:spcPct val="114000"/>
              </a:lnSpc>
              <a:spcAft>
                <a:spcPts val="2240"/>
              </a:spcAft>
              <a:defRPr sz="3200" b="0">
                <a:solidFill>
                  <a:srgbClr val="253446"/>
                </a:solidFill>
                <a:latin typeface="Arial"/>
              </a:defRPr>
            </a:pPr>
            <a:r>
              <a:t>With both branches wrong, error is at least 23% of the activating-step signal at every single-muscle equilibrium tested.</a:t>
            </a:r>
          </a:p>
          <a:p>
            <a:pPr>
              <a:lnSpc>
                <a:spcPct val="114000"/>
              </a:lnSpc>
              <a:spcAft>
                <a:spcPts val="2240"/>
              </a:spcAft>
              <a:defRPr sz="3200" b="0">
                <a:solidFill>
                  <a:srgbClr val="253446"/>
                </a:solidFill>
                <a:latin typeface="Arial"/>
              </a:defRPr>
            </a:pPr>
            <a:r>
              <a:t>Feedback changes the consequence</a:t>
            </a:r>
          </a:p>
          <a:p>
            <a:pPr>
              <a:lnSpc>
                <a:spcPct val="114000"/>
              </a:lnSpc>
              <a:spcAft>
                <a:spcPts val="2240"/>
              </a:spcAft>
              <a:defRPr sz="3200" b="0">
                <a:solidFill>
                  <a:srgbClr val="253446"/>
                </a:solidFill>
                <a:latin typeface="Arial"/>
              </a:defRPr>
            </a:pPr>
            <a:r>
              <a:t>In the tested delay-free cases, feedback preserves stability and steady-state tracking, but differences in transient quality remain. Blending the branches gives 8–9× more raising overshoot than the fixed, sign-test and relinearized designs.</a:t>
            </a:r>
          </a:p>
        </p:txBody>
      </p:sp>
      <p:sp>
        <p:nvSpPr>
          <p:cNvPr id="39" name="fig-3-caption"/>
          <p:cNvSpPr txBox="1"/>
          <p:nvPr/>
        </p:nvSpPr>
        <p:spPr>
          <a:xfrm>
            <a:off x="10101906" y="23940272"/>
            <a:ext cx="10067544" cy="7796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4000"/>
              </a:lnSpc>
              <a:spcAft>
                <a:spcPts val="1539"/>
              </a:spcAft>
              <a:defRPr sz="2200" b="0">
                <a:solidFill>
                  <a:srgbClr val="253446"/>
                </a:solidFill>
                <a:latin typeface="Arial"/>
              </a:defRPr>
            </a:pPr>
            <a:r>
              <a:t>A small excitation step: the matched branch tracks the nonlinear model; wrong branches diverge.</a:t>
            </a:r>
          </a:p>
        </p:txBody>
      </p:sp>
      <p:sp>
        <p:nvSpPr>
          <p:cNvPr id="40" name="fig-4-caption"/>
          <p:cNvSpPr txBox="1"/>
          <p:nvPr/>
        </p:nvSpPr>
        <p:spPr>
          <a:xfrm>
            <a:off x="10101906" y="31386724"/>
            <a:ext cx="10067544" cy="7796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4000"/>
              </a:lnSpc>
              <a:spcAft>
                <a:spcPts val="1539"/>
              </a:spcAft>
              <a:defRPr sz="2200" b="0">
                <a:solidFill>
                  <a:srgbClr val="253446"/>
                </a:solidFill>
                <a:latin typeface="Arial"/>
              </a:defRPr>
            </a:pPr>
            <a:r>
              <a:t>Held-load sweep: activation-branch error falls as activation rises; velocity-branch error grows.</a:t>
            </a:r>
          </a:p>
        </p:txBody>
      </p:sp>
      <p:sp>
        <p:nvSpPr>
          <p:cNvPr id="41" name="fig-5-caption"/>
          <p:cNvSpPr txBox="1"/>
          <p:nvPr/>
        </p:nvSpPr>
        <p:spPr>
          <a:xfrm>
            <a:off x="10101906" y="38833176"/>
            <a:ext cx="10067544" cy="7796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4000"/>
              </a:lnSpc>
              <a:spcAft>
                <a:spcPts val="1539"/>
              </a:spcAft>
              <a:defRPr sz="2200" b="0">
                <a:solidFill>
                  <a:srgbClr val="253446"/>
                </a:solidFill>
                <a:latin typeface="Arial"/>
              </a:defRPr>
            </a:pPr>
            <a:r>
              <a:t>Closed-loop steps: 60° → 63° → 57°. Relinearization reduces lowering-step overshoot.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half" idx="42"/>
          </p:nvPr>
        </p:nvSpPr>
        <p:spPr>
          <a:xfrm>
            <a:off x="10101906" y="39751893"/>
            <a:ext cx="10071970" cy="1037726"/>
          </a:xfrm>
        </p:spPr>
        <p:txBody>
          <a:bodyPr wrap="square" lIns="27432" rIns="27432" tIns="18288" bIns="18288" anchor="t"/>
          <a:lstStyle/>
          <a:p>
            <a:pPr>
              <a:lnSpc>
                <a:spcPct val="114000"/>
              </a:lnSpc>
              <a:spcAft>
                <a:spcPts val="1820"/>
              </a:spcAft>
              <a:defRPr sz="2600" b="0">
                <a:solidFill>
                  <a:srgbClr val="253446"/>
                </a:solidFill>
                <a:latin typeface="Arial"/>
              </a:defRPr>
            </a:pPr>
            <a:r>
              <a:t>Read together: branch choice affects prediction across operating points and remains visible in closed-loop transients.</a:t>
            </a:r>
            <a:endParaRPr/>
          </a:p>
        </p:txBody>
      </p:sp>
      <p:sp>
        <p:nvSpPr>
          <p:cNvPr id="42" name="sec-discus"/>
          <p:cNvSpPr/>
          <p:nvPr/>
        </p:nvSpPr>
        <p:spPr>
          <a:xfrm>
            <a:off x="21132606" y="4952801"/>
            <a:ext cx="8083387" cy="12257528"/>
          </a:xfrm>
          <a:prstGeom prst="rect">
            <a:avLst/>
          </a:prstGeom>
          <a:noFill/>
          <a:ln w="9525">
            <a:solidFill>
              <a:srgbClr val="C4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sec-discus-head"/>
          <p:cNvSpPr/>
          <p:nvPr/>
        </p:nvSpPr>
        <p:spPr>
          <a:xfrm>
            <a:off x="21132606" y="4952801"/>
            <a:ext cx="8083387" cy="1085850"/>
          </a:xfrm>
          <a:prstGeom prst="rect">
            <a:avLst/>
          </a:prstGeom>
          <a:solidFill>
            <a:schemeClr val="accent1">
              <a:lumMod val="72000"/>
              <a:lumOff val="2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sec-discus-title"/>
          <p:cNvSpPr txBox="1"/>
          <p:nvPr/>
        </p:nvSpPr>
        <p:spPr>
          <a:xfrm>
            <a:off x="21310441" y="5169971"/>
            <a:ext cx="7727718" cy="7600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>
                <a:solidFill>
                  <a:srgbClr val="FFFFFF"/>
                </a:solidFill>
                <a:latin typeface="Arial"/>
              </a:rPr>
              <a:t>DISCUSSION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half" idx="43"/>
          </p:nvPr>
        </p:nvSpPr>
        <p:spPr>
          <a:xfrm>
            <a:off x="21310441" y="6255821"/>
            <a:ext cx="7727718" cy="7318820"/>
          </a:xfrm>
        </p:spPr>
        <p:txBody>
          <a:bodyPr wrap="square" lIns="27432" rIns="27432" tIns="18288" bIns="18288" anchor="t"/>
          <a:lstStyle/>
          <a:p>
            <a:pPr>
              <a:lnSpc>
                <a:spcPct val="114000"/>
              </a:lnSpc>
              <a:spcAft>
                <a:spcPts val="2029"/>
              </a:spcAft>
              <a:defRPr sz="2900" b="1">
                <a:solidFill>
                  <a:srgbClr val="253446"/>
                </a:solidFill>
                <a:latin typeface="Arial"/>
              </a:defRPr>
            </a:pPr>
            <a:r>
              <a:t>Relinearize at the measured state</a:t>
            </a:r>
            <a:endParaRPr/>
          </a:p>
          <a:p>
            <a:pPr>
              <a:lnSpc>
                <a:spcPct val="114000"/>
              </a:lnSpc>
              <a:spcAft>
                <a:spcPts val="2029"/>
              </a:spcAft>
              <a:defRPr sz="2900" b="0">
                <a:solidFill>
                  <a:srgbClr val="253446"/>
                </a:solidFill>
                <a:latin typeface="Arial"/>
              </a:defRPr>
            </a:pPr>
            <a:r>
              <a:t>During lowering, braking re-activates the muscle. A branch chosen only from the initial sign misses this mid-plan change.</a:t>
            </a:r>
          </a:p>
          <a:p>
            <a:pPr>
              <a:lnSpc>
                <a:spcPct val="114000"/>
              </a:lnSpc>
              <a:spcAft>
                <a:spcPts val="2029"/>
              </a:spcAft>
              <a:defRPr sz="2900" b="0">
                <a:solidFill>
                  <a:srgbClr val="253446"/>
                </a:solidFill>
                <a:latin typeface="Arial"/>
              </a:defRPr>
            </a:pPr>
            <a:r>
              <a:t>Lowering overshoot falls from 0.37° with the sign test to 0.02° with relinearization.</a:t>
            </a:r>
          </a:p>
          <a:p>
            <a:pPr>
              <a:lnSpc>
                <a:spcPct val="114000"/>
              </a:lnSpc>
              <a:spcAft>
                <a:spcPts val="2029"/>
              </a:spcAft>
              <a:defRPr sz="2900" b="0">
                <a:solidFill>
                  <a:srgbClr val="253446"/>
                </a:solidFill>
                <a:latin typeface="Arial"/>
              </a:defRPr>
            </a:pPr>
            <a:r>
              <a:t>Smoothing activation retains much of the transient cost. Tracking rankings depend on weights and noise.</a:t>
            </a:r>
          </a:p>
          <a:p>
            <a:pPr>
              <a:lnSpc>
                <a:spcPct val="114000"/>
              </a:lnSpc>
              <a:spcAft>
                <a:spcPts val="2029"/>
              </a:spcAft>
              <a:defRPr sz="2900" b="0">
                <a:solidFill>
                  <a:srgbClr val="253446"/>
                </a:solidFill>
                <a:latin typeface="Arial"/>
              </a:defRPr>
            </a:pPr>
            <a:r>
              <a:t>A predictor restored stability under the tested 20 and 50 ms delays.</a:t>
            </a:r>
          </a:p>
        </p:txBody>
      </p:sp>
      <p:sp>
        <p:nvSpPr>
          <p:cNvPr id="45" name="results-table-caption"/>
          <p:cNvSpPr txBox="1"/>
          <p:nvPr/>
        </p:nvSpPr>
        <p:spPr>
          <a:xfrm>
            <a:off x="21420993" y="13574641"/>
            <a:ext cx="7617166" cy="3669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4000"/>
              </a:lnSpc>
              <a:spcAft>
                <a:spcPts val="1470"/>
              </a:spcAft>
              <a:defRPr sz="2100" b="0">
                <a:solidFill>
                  <a:srgbClr val="253446"/>
                </a:solidFill>
                <a:latin typeface="Arial"/>
              </a:defRPr>
            </a:pPr>
            <a:r>
              <a:t>Baseline MPC: overshoot and tracking error (degrees).</a:t>
            </a:r>
          </a:p>
        </p:txBody>
      </p:sp>
      <p:graphicFrame>
        <p:nvGraphicFramePr>
          <p:cNvPr id="46" name="results-table"/>
          <p:cNvGraphicFramePr>
            <a:graphicFrameLocks noGrp="1"/>
          </p:cNvGraphicFramePr>
          <p:nvPr/>
        </p:nvGraphicFramePr>
        <p:xfrm>
          <a:off x="21420993" y="13996588"/>
          <a:ext cx="7507224" cy="31369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0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7380">
                <a:tc>
                  <a:txBody>
                    <a:bodyPr/>
                    <a:lstStyle/>
                    <a:p>
                      <a:pPr algn="l"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B w="34671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B w="34671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Down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B w="34671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Sine RMS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B w="34671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380">
                <a:tc>
                  <a:txBody>
                    <a:bodyPr/>
                    <a:lstStyle/>
                    <a:p>
                      <a:pPr algn="l"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Blended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>
                      <a:noFill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0.65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>
                      <a:noFill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0.15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>
                      <a:noFill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0.196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>
                      <a:noFill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380">
                <a:tc>
                  <a:txBody>
                    <a:bodyPr/>
                    <a:lstStyle/>
                    <a:p>
                      <a:pPr algn="l"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Smooth act.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0.42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0.48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0.169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380">
                <a:tc>
                  <a:txBody>
                    <a:bodyPr/>
                    <a:lstStyle/>
                    <a:p>
                      <a:pPr algn="l"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Sign test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0.08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0.37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300" b="0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0.153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161" cap="flat" cmpd="sng" algn="ctr">
                      <a:solidFill>
                        <a:srgbClr val="C4C8C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380">
                <a:tc>
                  <a:txBody>
                    <a:bodyPr/>
                    <a:lstStyle/>
                    <a:p>
                      <a:pPr algn="l">
                        <a:defRPr sz="2300" b="1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Relinearize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671" cap="flat" cmpd="sng" algn="ctr">
                      <a:solidFill>
                        <a:srgbClr val="5A5F6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300" b="1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0.07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671" cap="flat" cmpd="sng" algn="ctr">
                      <a:solidFill>
                        <a:srgbClr val="5A5F6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300" b="1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0.02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671" cap="flat" cmpd="sng" algn="ctr">
                      <a:solidFill>
                        <a:srgbClr val="5A5F6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300" b="1">
                          <a:solidFill>
                            <a:srgbClr val="253446"/>
                          </a:solidFill>
                          <a:latin typeface="Arial"/>
                        </a:defRPr>
                      </a:pPr>
                      <a:r>
                        <a:t>0.149</a:t>
                      </a:r>
                    </a:p>
                  </a:txBody>
                  <a:tcPr marL="54864" marR="54864" marT="18288" marB="18288" anchor="ctr">
                    <a:lnL w="6350" cap="flat" cmpd="sng" algn="ctr">
                      <a:noFill/>
                    </a:lnL>
                    <a:lnR w="6350" cap="flat" cmpd="sng" algn="ctr">
                      <a:noFill/>
                    </a:lnR>
                    <a:lnT w="18161" cap="flat" cmpd="sng" algn="ctr">
                      <a:solidFill>
                        <a:srgbClr val="C4C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671" cap="flat" cmpd="sng" algn="ctr">
                      <a:solidFill>
                        <a:srgbClr val="5A5F6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" name="sec-conclu"/>
          <p:cNvSpPr/>
          <p:nvPr/>
        </p:nvSpPr>
        <p:spPr>
          <a:xfrm>
            <a:off x="21132606" y="17581257"/>
            <a:ext cx="8083387" cy="11769482"/>
          </a:xfrm>
          <a:prstGeom prst="rect">
            <a:avLst/>
          </a:prstGeom>
          <a:noFill/>
          <a:ln w="9525">
            <a:solidFill>
              <a:srgbClr val="C4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sec-conclu-head"/>
          <p:cNvSpPr/>
          <p:nvPr/>
        </p:nvSpPr>
        <p:spPr>
          <a:xfrm>
            <a:off x="21132606" y="17581257"/>
            <a:ext cx="8083387" cy="1085850"/>
          </a:xfrm>
          <a:prstGeom prst="rect">
            <a:avLst/>
          </a:prstGeom>
          <a:solidFill>
            <a:schemeClr val="accent1">
              <a:lumMod val="72000"/>
              <a:lumOff val="2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sec-conclu-title"/>
          <p:cNvSpPr txBox="1"/>
          <p:nvPr/>
        </p:nvSpPr>
        <p:spPr>
          <a:xfrm>
            <a:off x="21310441" y="17798427"/>
            <a:ext cx="7727718" cy="7600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>
                <a:solidFill>
                  <a:srgbClr val="FFFFFF"/>
                </a:solidFill>
                <a:latin typeface="Arial"/>
              </a:rPr>
              <a:t>CONCLUSIONS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half" idx="44"/>
          </p:nvPr>
        </p:nvSpPr>
        <p:spPr>
          <a:xfrm>
            <a:off x="21310441" y="18884277"/>
            <a:ext cx="7727718" cy="4118010"/>
          </a:xfrm>
        </p:spPr>
        <p:txBody>
          <a:bodyPr wrap="square" lIns="27432" rIns="27432" tIns="18288" bIns="18288" anchor="t"/>
          <a:lstStyle/>
          <a:p>
            <a:pPr>
              <a:lnSpc>
                <a:spcPct val="114000"/>
              </a:lnSpc>
              <a:spcAft>
                <a:spcPts val="1959"/>
              </a:spcAft>
              <a:defRPr sz="2800" b="1">
                <a:solidFill>
                  <a:srgbClr val="253446"/>
                </a:solidFill>
                <a:latin typeface="Arial"/>
              </a:defRPr>
            </a:pPr>
            <a:r>
              <a:t>Choose the branch as well as the operating point.</a:t>
            </a:r>
            <a:endParaRPr/>
          </a:p>
          <a:p>
            <a:pPr>
              <a:lnSpc>
                <a:spcPct val="114000"/>
              </a:lnSpc>
              <a:spcAft>
                <a:spcPts val="1959"/>
              </a:spcAft>
              <a:defRPr sz="2800" b="0">
                <a:solidFill>
                  <a:srgbClr val="253446"/>
                </a:solidFill>
                <a:latin typeface="Arial"/>
              </a:defRPr>
            </a:pPr>
            <a:r>
              <a:t>Use directional local models and relinearize as the state changes. Co-contraction can reduce the velocity kink, but adds an activation switch and effort.</a:t>
            </a:r>
          </a:p>
          <a:p>
            <a:pPr>
              <a:lnSpc>
                <a:spcPct val="114000"/>
              </a:lnSpc>
              <a:spcAft>
                <a:spcPts val="1959"/>
              </a:spcAft>
              <a:defRPr sz="2800" b="0">
                <a:solidFill>
                  <a:srgbClr val="253446"/>
                </a:solidFill>
                <a:latin typeface="Arial"/>
              </a:defRPr>
            </a:pPr>
            <a:r>
              <a:t>Scope: one simulated joint. Hardware validation, reflexes and history-dependent muscle effects remain open.</a:t>
            </a:r>
          </a:p>
        </p:txBody>
      </p:sp>
      <p:sp>
        <p:nvSpPr>
          <p:cNvPr id="50" name="fig-6-caption"/>
          <p:cNvSpPr txBox="1"/>
          <p:nvPr/>
        </p:nvSpPr>
        <p:spPr>
          <a:xfrm>
            <a:off x="22237767" y="28393256"/>
            <a:ext cx="5873065" cy="7796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4000"/>
              </a:lnSpc>
              <a:spcAft>
                <a:spcPts val="1539"/>
              </a:spcAft>
              <a:defRPr sz="2200" b="0">
                <a:solidFill>
                  <a:srgbClr val="253446"/>
                </a:solidFill>
                <a:latin typeface="Arial"/>
              </a:defRPr>
            </a:pPr>
            <a:r>
              <a:t>Antagonist co-contraction reduces the velocity kink toward cancellation.</a:t>
            </a:r>
          </a:p>
        </p:txBody>
      </p:sp>
      <p:sp>
        <p:nvSpPr>
          <p:cNvPr id="51" name="sec-refere"/>
          <p:cNvSpPr/>
          <p:nvPr/>
        </p:nvSpPr>
        <p:spPr>
          <a:xfrm>
            <a:off x="21132606" y="29721665"/>
            <a:ext cx="8083387" cy="5847008"/>
          </a:xfrm>
          <a:prstGeom prst="rect">
            <a:avLst/>
          </a:prstGeom>
          <a:noFill/>
          <a:ln w="9525">
            <a:solidFill>
              <a:srgbClr val="C4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sec-refere-head"/>
          <p:cNvSpPr/>
          <p:nvPr/>
        </p:nvSpPr>
        <p:spPr>
          <a:xfrm>
            <a:off x="21132606" y="29721665"/>
            <a:ext cx="8083387" cy="1085850"/>
          </a:xfrm>
          <a:prstGeom prst="rect">
            <a:avLst/>
          </a:prstGeom>
          <a:solidFill>
            <a:schemeClr val="accent1">
              <a:lumMod val="72000"/>
              <a:lumOff val="2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sec-refere-title"/>
          <p:cNvSpPr txBox="1"/>
          <p:nvPr/>
        </p:nvSpPr>
        <p:spPr>
          <a:xfrm>
            <a:off x="21310441" y="29938835"/>
            <a:ext cx="7727718" cy="7600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>
                <a:solidFill>
                  <a:srgbClr val="FFFFFF"/>
                </a:solidFill>
                <a:latin typeface="Arial"/>
              </a:rPr>
              <a:t>REFERENCES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half" idx="45"/>
          </p:nvPr>
        </p:nvSpPr>
        <p:spPr>
          <a:xfrm>
            <a:off x="21310441" y="31024685"/>
            <a:ext cx="7727718" cy="4366153"/>
          </a:xfrm>
        </p:spPr>
        <p:txBody>
          <a:bodyPr wrap="square" lIns="27432" rIns="27432" tIns="18288" bIns="18288" anchor="t"/>
          <a:lstStyle/>
          <a:p>
            <a:pPr>
              <a:lnSpc>
                <a:spcPct val="114000"/>
              </a:lnSpc>
              <a:spcAft>
                <a:spcPts val="1609"/>
              </a:spcAft>
              <a:defRPr sz="2300" b="0">
                <a:solidFill>
                  <a:srgbClr val="253446"/>
                </a:solidFill>
                <a:latin typeface="Arial"/>
              </a:defRPr>
            </a:pPr>
            <a:r>
              <a:t>Thelen (2003). J Biomech Eng 125:70–77.</a:t>
            </a:r>
            <a:endParaRPr/>
          </a:p>
          <a:p>
            <a:pPr>
              <a:lnSpc>
                <a:spcPct val="114000"/>
              </a:lnSpc>
              <a:spcAft>
                <a:spcPts val="1609"/>
              </a:spcAft>
              <a:defRPr sz="2300" b="0">
                <a:solidFill>
                  <a:srgbClr val="253446"/>
                </a:solidFill>
                <a:latin typeface="Arial"/>
              </a:defRPr>
            </a:pPr>
            <a:r>
              <a:t>Katz (1939). J Physiol 96:45–64.</a:t>
            </a:r>
          </a:p>
          <a:p>
            <a:pPr>
              <a:lnSpc>
                <a:spcPct val="114000"/>
              </a:lnSpc>
              <a:spcAft>
                <a:spcPts val="1609"/>
              </a:spcAft>
              <a:defRPr sz="2300" b="0">
                <a:solidFill>
                  <a:srgbClr val="253446"/>
                </a:solidFill>
                <a:latin typeface="Arial"/>
              </a:defRPr>
            </a:pPr>
            <a:r>
              <a:t>Holzbaur et al. (2005). Ann Biomed Eng 33:829–840.</a:t>
            </a:r>
          </a:p>
          <a:p>
            <a:pPr>
              <a:lnSpc>
                <a:spcPct val="114000"/>
              </a:lnSpc>
              <a:spcAft>
                <a:spcPts val="1609"/>
              </a:spcAft>
              <a:defRPr sz="2300" b="0">
                <a:solidFill>
                  <a:srgbClr val="253446"/>
                </a:solidFill>
                <a:latin typeface="Arial"/>
              </a:defRPr>
            </a:pPr>
            <a:r>
              <a:t>Murray et al. (1995). J Biomech 28:513–525.</a:t>
            </a:r>
          </a:p>
          <a:p>
            <a:pPr>
              <a:lnSpc>
                <a:spcPct val="114000"/>
              </a:lnSpc>
              <a:spcAft>
                <a:spcPts val="1609"/>
              </a:spcAft>
              <a:defRPr sz="2300" b="0">
                <a:solidFill>
                  <a:srgbClr val="253446"/>
                </a:solidFill>
                <a:latin typeface="Arial"/>
              </a:defRPr>
            </a:pPr>
            <a:r>
              <a:t>Camlibel et al. (2008). Automatica 44:1261–1267.</a:t>
            </a:r>
          </a:p>
          <a:p>
            <a:pPr>
              <a:lnSpc>
                <a:spcPct val="114000"/>
              </a:lnSpc>
              <a:spcAft>
                <a:spcPts val="1609"/>
              </a:spcAft>
              <a:defRPr sz="2300" b="0">
                <a:solidFill>
                  <a:srgbClr val="253446"/>
                </a:solidFill>
                <a:latin typeface="Arial"/>
              </a:defRPr>
            </a:pPr>
            <a:r>
              <a:t>De Groote et al. (2016). Ann Biomed Eng 44:2922–2936.</a:t>
            </a:r>
          </a:p>
        </p:txBody>
      </p:sp>
      <p:sp>
        <p:nvSpPr>
          <p:cNvPr id="54" name="sec-acknow"/>
          <p:cNvSpPr/>
          <p:nvPr/>
        </p:nvSpPr>
        <p:spPr>
          <a:xfrm>
            <a:off x="21132606" y="35939600"/>
            <a:ext cx="8083387" cy="5081800"/>
          </a:xfrm>
          <a:prstGeom prst="rect">
            <a:avLst/>
          </a:prstGeom>
          <a:noFill/>
          <a:ln w="9525">
            <a:solidFill>
              <a:srgbClr val="C4C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sec-acknow-head"/>
          <p:cNvSpPr/>
          <p:nvPr/>
        </p:nvSpPr>
        <p:spPr>
          <a:xfrm>
            <a:off x="21132606" y="35939600"/>
            <a:ext cx="8083387" cy="1085850"/>
          </a:xfrm>
          <a:prstGeom prst="rect">
            <a:avLst/>
          </a:prstGeom>
          <a:solidFill>
            <a:schemeClr val="accent1">
              <a:lumMod val="72000"/>
              <a:lumOff val="2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sec-acknow-title"/>
          <p:cNvSpPr txBox="1"/>
          <p:nvPr/>
        </p:nvSpPr>
        <p:spPr>
          <a:xfrm>
            <a:off x="21310441" y="36156770"/>
            <a:ext cx="7727718" cy="76009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4000"/>
              </a:lnSpc>
              <a:spcAft>
                <a:spcPts val="280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CONTACT &amp; MATERIALS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half" idx="46"/>
          </p:nvPr>
        </p:nvSpPr>
        <p:spPr>
          <a:xfrm>
            <a:off x="21310441" y="37242620"/>
            <a:ext cx="6807929" cy="2776053"/>
          </a:xfrm>
        </p:spPr>
        <p:txBody>
          <a:bodyPr wrap="square" lIns="27432" rIns="27432" tIns="18288" bIns="18288" anchor="t"/>
          <a:lstStyle/>
          <a:p>
            <a:pPr>
              <a:lnSpc>
                <a:spcPct val="114000"/>
              </a:lnSpc>
              <a:spcAft>
                <a:spcPts val="1820"/>
              </a:spcAft>
              <a:defRPr sz="2600" b="1">
                <a:solidFill>
                  <a:srgbClr val="253446"/>
                </a:solidFill>
                <a:latin typeface="Arial"/>
              </a:defRPr>
            </a:pPr>
            <a:r>
              <a:t>Alan Royce Gabriel Samuel</a:t>
            </a:r>
            <a:endParaRPr/>
          </a:p>
          <a:p>
            <a:pPr>
              <a:lnSpc>
                <a:spcPct val="114000"/>
              </a:lnSpc>
              <a:spcAft>
                <a:spcPts val="1820"/>
              </a:spcAft>
              <a:defRPr sz="2600" b="0">
                <a:solidFill>
                  <a:srgbClr val="253446"/>
                </a:solidFill>
                <a:latin typeface="Arial"/>
              </a:defRPr>
            </a:pPr>
            <a:r>
              <a:t>bs22b001@smail.iitm.ac.in</a:t>
            </a:r>
          </a:p>
          <a:p>
            <a:pPr>
              <a:lnSpc>
                <a:spcPct val="114000"/>
              </a:lnSpc>
              <a:spcAft>
                <a:spcPts val="1820"/>
              </a:spcAft>
              <a:defRPr sz="2600" b="0">
                <a:solidFill>
                  <a:srgbClr val="253446"/>
                </a:solidFill>
                <a:latin typeface="Arial"/>
              </a:defRPr>
            </a:pPr>
            <a:r>
              <a:t>Poster source and figures:</a:t>
            </a:r>
            <a:br/>
            <a:r>
              <a:t>github.com/alanroyce2010/hill_IROS</a:t>
            </a:r>
          </a:p>
        </p:txBody>
      </p:sp>
      <p:sp>
        <p:nvSpPr>
          <p:cNvPr id="57" name="qr-slot-hint"/>
          <p:cNvSpPr txBox="1"/>
          <p:nvPr/>
        </p:nvSpPr>
        <p:spPr>
          <a:xfrm>
            <a:off x="21310441" y="40084666"/>
            <a:ext cx="7727718" cy="74240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14000"/>
              </a:lnSpc>
              <a:spcAft>
                <a:spcPts val="1539"/>
              </a:spcAft>
              <a:defRPr sz="2200" b="0">
                <a:solidFill>
                  <a:srgbClr val="253446"/>
                </a:solidFill>
                <a:latin typeface="Arial"/>
              </a:defRPr>
            </a:pPr>
            <a:r>
              <a:t>Simulation results from the existing project draft.</a:t>
            </a:r>
          </a:p>
        </p:txBody>
      </p:sp>
      <p:pic>
        <p:nvPicPr>
          <p:cNvPr id="58" name="Project figure: fig1_kinks.pdf" descr="figu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7624" y="17371187"/>
            <a:ext cx="7727718" cy="2769867"/>
          </a:xfrm>
          <a:prstGeom prst="rect">
            <a:avLst/>
          </a:prstGeom>
        </p:spPr>
      </p:pic>
      <p:pic>
        <p:nvPicPr>
          <p:cNvPr id="59" name="Project figure: fig6_validation.pdf" descr="figu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7624" y="36052989"/>
            <a:ext cx="7727718" cy="2431192"/>
          </a:xfrm>
          <a:prstGeom prst="rect">
            <a:avLst/>
          </a:prstGeom>
        </p:spPr>
      </p:pic>
      <p:pic>
        <p:nvPicPr>
          <p:cNvPr id="60" name="Project figure: fig2_prediction.pdf" descr="figu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01906" y="18283405"/>
            <a:ext cx="10067544" cy="4724319"/>
          </a:xfrm>
          <a:prstGeom prst="rect">
            <a:avLst/>
          </a:prstGeom>
        </p:spPr>
      </p:pic>
      <p:pic>
        <p:nvPicPr>
          <p:cNvPr id="61" name="Project figure: fig3_equilibria.pdf" descr="figu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01906" y="25999616"/>
            <a:ext cx="10067544" cy="4184801"/>
          </a:xfrm>
          <a:prstGeom prst="rect">
            <a:avLst/>
          </a:prstGeom>
        </p:spPr>
      </p:pic>
      <p:pic>
        <p:nvPicPr>
          <p:cNvPr id="62" name="Project figure: fig4_closedloop.pdf" descr="figur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01906" y="33462644"/>
            <a:ext cx="10067544" cy="4151648"/>
          </a:xfrm>
          <a:prstGeom prst="rect">
            <a:avLst/>
          </a:prstGeom>
        </p:spPr>
      </p:pic>
      <p:pic>
        <p:nvPicPr>
          <p:cNvPr id="63" name="Project figure: fig5_pair.pdf" descr="figur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37767" y="24445566"/>
            <a:ext cx="5873065" cy="25941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5A5F66"/>
      </a:dk2>
      <a:lt2>
        <a:srgbClr val="F4F5F7"/>
      </a:lt2>
      <a:accent1>
        <a:srgbClr val="1B365D"/>
      </a:accent1>
      <a:accent2>
        <a:srgbClr val="8A7B5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B365D"/>
      </a:hlink>
      <a:folHlink>
        <a:srgbClr val="1B365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 Scientific Poster Template A0 Portrait Classic | SciFig AI</dc:title>
  <dc:subject>Scientific research poster template</dc:subject>
  <dc:creator>SciFig AI</dc:creator>
  <cp:keywords>scientific poster template a0, a0 poster template, research poster template portrait</cp:keywords>
  <dc:description>Academic, research, teaching, and personal use allowed. Edit/print for your own poster/presentation; remove © SciFig AI only from finished work. Do not redistribute, sell, or paywall as your own template; keep © SciFig AI on distributed template files.</dc:description>
  <cp:lastModifiedBy>Alan Royce</cp:lastModifiedBy>
  <cp:revision>2</cp:revision>
  <dcterms:created xsi:type="dcterms:W3CDTF">2013-01-27T09:14:16Z</dcterms:created>
  <dcterms:modified xsi:type="dcterms:W3CDTF">2026-09-19T12:34:02Z</dcterms:modified>
  <cp:category>Poster template</cp:category>
</cp:coreProperties>
</file>