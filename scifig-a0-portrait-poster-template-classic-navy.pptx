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75" d="100"/>
          <a:sy n="75" d="100"/>
        </p:scale>
        <p:origin x="144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678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fig.ai/go/a0pcn-nte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scifig.ai/go/a0pcn-clr" TargetMode="External"/><Relationship Id="rId4" Type="http://schemas.openxmlformats.org/officeDocument/2006/relationships/hyperlink" Target="https://scifig.ai/go/a0pcn-all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fig.ai/go/a0pcn-nte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scifig.ai/go/a0pcn-clr" TargetMode="External"/><Relationship Id="rId4" Type="http://schemas.openxmlformats.org/officeDocument/2006/relationships/hyperlink" Target="https://scifig.ai/go/a0pcn-al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A0 Portrait · Classic layout · free scientific poster template by SciFig AI.  (Slide 1 is the quick-start guide — delete it before you submit.)</a:t>
            </a:r>
          </a:p>
          <a:p>
            <a:r>
              <a:t>Generate the figures for this poster free: </a:t>
            </a:r>
            <a:r>
              <a:rPr>
                <a:hlinkClick r:id="rId3"/>
              </a:rPr>
              <a:t>scifig.ai/go/a0pcn-nte</a:t>
            </a:r>
          </a:p>
          <a:p>
            <a:r>
              <a:t>All sizes, layouts and colors: </a:t>
            </a:r>
            <a:r>
              <a:rPr>
                <a:hlinkClick r:id="rId4"/>
              </a:rPr>
              <a:t>scifig.ai/go/a0pcn-all</a:t>
            </a:r>
          </a:p>
          <a:p>
            <a:r>
              <a:t>How to change the colors: </a:t>
            </a:r>
            <a:r>
              <a:rPr>
                <a:hlinkClick r:id="rId5"/>
              </a:rPr>
              <a:t>scifig.ai/go/a0pcn-clr</a:t>
            </a:r>
          </a:p>
          <a:p>
            <a:endParaRPr>
              <a:hlinkClick r:id="rId5"/>
            </a:endParaRPr>
          </a:p>
          <a:p>
            <a:r>
              <a:t>Academic, research, teaching, and personal use allowed. Edit/print for your own poster/presentation; remove © SciFig AI only from finished work. Do not redistribute, sell, or paywall as your own template; keep © SciFig AI on distributed template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A0 Portrait · Classic layout · free scientific poster template by SciFig AI.</a:t>
            </a:r>
          </a:p>
          <a:p>
            <a:r>
              <a:t>Generate the figures for this poster free: </a:t>
            </a:r>
            <a:r>
              <a:rPr>
                <a:hlinkClick r:id="rId3"/>
              </a:rPr>
              <a:t>scifig.ai/go/a0pcn-nte</a:t>
            </a:r>
          </a:p>
          <a:p>
            <a:r>
              <a:t>All sizes, layouts and colors: </a:t>
            </a:r>
            <a:r>
              <a:rPr>
                <a:hlinkClick r:id="rId4"/>
              </a:rPr>
              <a:t>scifig.ai/go/a0pcn-all</a:t>
            </a:r>
          </a:p>
          <a:p>
            <a:r>
              <a:t>How to change the colors: </a:t>
            </a:r>
            <a:r>
              <a:rPr>
                <a:hlinkClick r:id="rId5"/>
              </a:rPr>
              <a:t>scifig.ai/go/a0pcn-clr</a:t>
            </a:r>
          </a:p>
          <a:p>
            <a:endParaRPr>
              <a:hlinkClick r:id="rId5"/>
            </a:endParaRPr>
          </a:p>
          <a:p>
            <a:r>
              <a:t>Academic, research, teaching, and personal use allowed. Edit/print for your own poster/presentation; remove © SciFig AI only from finished work. Do not redistribute, sell, or paywall as your own template; keep © SciFig AI on distributed template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30"/>
            </a:lvl1pPr>
            <a:lvl2pPr marL="457200" indent="0">
              <a:buNone/>
              <a:defRPr sz="2130"/>
            </a:lvl2pPr>
            <a:lvl3pPr marL="914400" indent="0">
              <a:buNone/>
              <a:defRPr sz="2130"/>
            </a:lvl3pPr>
            <a:lvl4pPr marL="1371600" indent="0">
              <a:buNone/>
              <a:defRPr sz="2130"/>
            </a:lvl4pPr>
            <a:lvl5pPr marL="1828800" indent="0">
              <a:buNone/>
              <a:defRPr sz="2130"/>
            </a:lvl5pPr>
            <a:lvl6pPr marL="2286000" indent="0">
              <a:buNone/>
              <a:defRPr sz="2130"/>
            </a:lvl6pPr>
            <a:lvl7pPr marL="2743200" indent="0">
              <a:buNone/>
              <a:defRPr sz="2130"/>
            </a:lvl7pPr>
            <a:lvl8pPr marL="3200400" indent="0">
              <a:buNone/>
              <a:defRPr sz="2130"/>
            </a:lvl8pPr>
            <a:lvl9pPr marL="3657600" indent="0">
              <a:buNone/>
              <a:defRPr sz="213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Background and why this problem matters.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Picture Placeholder 20"/>
          <p:cNvSpPr>
            <a:spLocks noGrp="1"/>
          </p:cNvSpPr>
          <p:nvPr>
            <p:ph type="pic" idx="20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30"/>
            </a:lvl1pPr>
            <a:lvl2pPr marL="457200" indent="0">
              <a:buNone/>
              <a:defRPr sz="2130"/>
            </a:lvl2pPr>
            <a:lvl3pPr marL="914400" indent="0">
              <a:buNone/>
              <a:defRPr sz="2130"/>
            </a:lvl3pPr>
            <a:lvl4pPr marL="1371600" indent="0">
              <a:buNone/>
              <a:defRPr sz="2130"/>
            </a:lvl4pPr>
            <a:lvl5pPr marL="1828800" indent="0">
              <a:buNone/>
              <a:defRPr sz="2130"/>
            </a:lvl5pPr>
            <a:lvl6pPr marL="2286000" indent="0">
              <a:buNone/>
              <a:defRPr sz="2130"/>
            </a:lvl6pPr>
            <a:lvl7pPr marL="2743200" indent="0">
              <a:buNone/>
              <a:defRPr sz="2130"/>
            </a:lvl7pPr>
            <a:lvl8pPr marL="3200400" indent="0">
              <a:buNone/>
              <a:defRPr sz="2130"/>
            </a:lvl8pPr>
            <a:lvl9pPr marL="3657600" indent="0">
              <a:buNone/>
              <a:defRPr sz="2130"/>
            </a:lvl9pPr>
          </a:lstStyle>
          <a:p>
            <a:endParaRPr lang="en-US"/>
          </a:p>
        </p:txBody>
      </p:sp>
      <p:sp>
        <p:nvSpPr>
          <p:cNvPr id="901" name="Picture Placeholder 21"/>
          <p:cNvSpPr>
            <a:spLocks noGrp="1"/>
          </p:cNvSpPr>
          <p:nvPr>
            <p:ph type="pic" idx="2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11"/>
            </a:lvl1pPr>
            <a:lvl2pPr marL="457200" indent="0">
              <a:buNone/>
              <a:defRPr sz="2411"/>
            </a:lvl2pPr>
            <a:lvl3pPr marL="914400" indent="0">
              <a:buNone/>
              <a:defRPr sz="2411"/>
            </a:lvl3pPr>
            <a:lvl4pPr marL="1371600" indent="0">
              <a:buNone/>
              <a:defRPr sz="2411"/>
            </a:lvl4pPr>
            <a:lvl5pPr marL="1828800" indent="0">
              <a:buNone/>
              <a:defRPr sz="2411"/>
            </a:lvl5pPr>
            <a:lvl6pPr marL="2286000" indent="0">
              <a:buNone/>
              <a:defRPr sz="2411"/>
            </a:lvl6pPr>
            <a:lvl7pPr marL="2743200" indent="0">
              <a:buNone/>
              <a:defRPr sz="2411"/>
            </a:lvl7pPr>
            <a:lvl8pPr marL="3200400" indent="0">
              <a:buNone/>
              <a:defRPr sz="2411"/>
            </a:lvl8pPr>
            <a:lvl9pPr marL="3657600" indent="0">
              <a:buNone/>
              <a:defRPr sz="2411"/>
            </a:lvl9pPr>
          </a:lstStyle>
          <a:p>
            <a:endParaRPr lang="en-US"/>
          </a:p>
        </p:txBody>
      </p:sp>
      <p:sp>
        <p:nvSpPr>
          <p:cNvPr id="902" name="Picture Placeholder 22"/>
          <p:cNvSpPr>
            <a:spLocks noGrp="1"/>
          </p:cNvSpPr>
          <p:nvPr>
            <p:ph type="pic" idx="22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11"/>
            </a:lvl1pPr>
            <a:lvl2pPr marL="457200" indent="0">
              <a:buNone/>
              <a:defRPr sz="2411"/>
            </a:lvl2pPr>
            <a:lvl3pPr marL="914400" indent="0">
              <a:buNone/>
              <a:defRPr sz="2411"/>
            </a:lvl3pPr>
            <a:lvl4pPr marL="1371600" indent="0">
              <a:buNone/>
              <a:defRPr sz="2411"/>
            </a:lvl4pPr>
            <a:lvl5pPr marL="1828800" indent="0">
              <a:buNone/>
              <a:defRPr sz="2411"/>
            </a:lvl5pPr>
            <a:lvl6pPr marL="2286000" indent="0">
              <a:buNone/>
              <a:defRPr sz="2411"/>
            </a:lvl6pPr>
            <a:lvl7pPr marL="2743200" indent="0">
              <a:buNone/>
              <a:defRPr sz="2411"/>
            </a:lvl7pPr>
            <a:lvl8pPr marL="3200400" indent="0">
              <a:buNone/>
              <a:defRPr sz="2411"/>
            </a:lvl8pPr>
            <a:lvl9pPr marL="3657600" indent="0">
              <a:buNone/>
              <a:defRPr sz="2411"/>
            </a:lvl9pPr>
          </a:lstStyle>
          <a:p>
            <a:endParaRPr lang="en-US"/>
          </a:p>
        </p:txBody>
      </p:sp>
      <p:sp>
        <p:nvSpPr>
          <p:cNvPr id="903" name="Picture Placeholder 23"/>
          <p:cNvSpPr>
            <a:spLocks noGrp="1"/>
          </p:cNvSpPr>
          <p:nvPr>
            <p:ph type="pic" idx="23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11"/>
            </a:lvl1pPr>
            <a:lvl2pPr marL="457200" indent="0">
              <a:buNone/>
              <a:defRPr sz="2411"/>
            </a:lvl2pPr>
            <a:lvl3pPr marL="914400" indent="0">
              <a:buNone/>
              <a:defRPr sz="2411"/>
            </a:lvl3pPr>
            <a:lvl4pPr marL="1371600" indent="0">
              <a:buNone/>
              <a:defRPr sz="2411"/>
            </a:lvl4pPr>
            <a:lvl5pPr marL="1828800" indent="0">
              <a:buNone/>
              <a:defRPr sz="2411"/>
            </a:lvl5pPr>
            <a:lvl6pPr marL="2286000" indent="0">
              <a:buNone/>
              <a:defRPr sz="2411"/>
            </a:lvl6pPr>
            <a:lvl7pPr marL="2743200" indent="0">
              <a:buNone/>
              <a:defRPr sz="2411"/>
            </a:lvl7pPr>
            <a:lvl8pPr marL="3200400" indent="0">
              <a:buNone/>
              <a:defRPr sz="2411"/>
            </a:lvl8pPr>
            <a:lvl9pPr marL="3657600" indent="0">
              <a:buNone/>
              <a:defRPr sz="2411"/>
            </a:lvl9pPr>
          </a:lstStyle>
          <a:p>
            <a:endParaRPr lang="en-US"/>
          </a:p>
        </p:txBody>
      </p:sp>
      <p:sp>
        <p:nvSpPr>
          <p:cNvPr id="904" name="Picture Placeholder 24"/>
          <p:cNvSpPr>
            <a:spLocks noGrp="1"/>
          </p:cNvSpPr>
          <p:nvPr>
            <p:ph type="pic" idx="24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619"/>
            </a:lvl1pPr>
            <a:lvl2pPr marL="457200" indent="0">
              <a:buNone/>
              <a:defRPr sz="1619"/>
            </a:lvl2pPr>
            <a:lvl3pPr marL="914400" indent="0">
              <a:buNone/>
              <a:defRPr sz="1619"/>
            </a:lvl3pPr>
            <a:lvl4pPr marL="1371600" indent="0">
              <a:buNone/>
              <a:defRPr sz="1619"/>
            </a:lvl4pPr>
            <a:lvl5pPr marL="1828800" indent="0">
              <a:buNone/>
              <a:defRPr sz="1619"/>
            </a:lvl5pPr>
            <a:lvl6pPr marL="2286000" indent="0">
              <a:buNone/>
              <a:defRPr sz="1619"/>
            </a:lvl6pPr>
            <a:lvl7pPr marL="2743200" indent="0">
              <a:buNone/>
              <a:defRPr sz="1619"/>
            </a:lvl7pPr>
            <a:lvl8pPr marL="3200400" indent="0">
              <a:buNone/>
              <a:defRPr sz="1619"/>
            </a:lvl8pPr>
            <a:lvl9pPr marL="3657600" indent="0">
              <a:buNone/>
              <a:defRPr sz="1619"/>
            </a:lvl9pPr>
          </a:lstStyle>
          <a:p>
            <a:endParaRPr lang="en-US"/>
          </a:p>
        </p:txBody>
      </p:sp>
      <p:sp>
        <p:nvSpPr>
          <p:cNvPr id="905" name="Picture Placeholder 25"/>
          <p:cNvSpPr>
            <a:spLocks noGrp="1"/>
          </p:cNvSpPr>
          <p:nvPr>
            <p:ph type="pic" idx="25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800"/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  <a:lvl6pPr marL="2286000" indent="0">
              <a:buNone/>
              <a:defRPr sz="800"/>
            </a:lvl6pPr>
            <a:lvl7pPr marL="2743200" indent="0">
              <a:buNone/>
              <a:defRPr sz="800"/>
            </a:lvl7pPr>
            <a:lvl8pPr marL="3200400" indent="0">
              <a:buNone/>
              <a:defRPr sz="800"/>
            </a:lvl8pPr>
            <a:lvl9pPr marL="3657600" indent="0">
              <a:buNone/>
              <a:defRPr sz="800"/>
            </a:lvl9pPr>
          </a:lstStyle>
          <a:p>
            <a:endParaRPr lang="en-US"/>
          </a:p>
        </p:txBody>
      </p:sp>
      <p:sp>
        <p:nvSpPr>
          <p:cNvPr id="906" name="Picture Placeholder 26"/>
          <p:cNvSpPr>
            <a:spLocks noGrp="1"/>
          </p:cNvSpPr>
          <p:nvPr>
            <p:ph type="pic" idx="26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800"/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  <a:lvl6pPr marL="2286000" indent="0">
              <a:buNone/>
              <a:defRPr sz="800"/>
            </a:lvl6pPr>
            <a:lvl7pPr marL="2743200" indent="0">
              <a:buNone/>
              <a:defRPr sz="800"/>
            </a:lvl7pPr>
            <a:lvl8pPr marL="3200400" indent="0">
              <a:buNone/>
              <a:defRPr sz="800"/>
            </a:lvl8pPr>
            <a:lvl9pPr marL="3657600" indent="0">
              <a:buNone/>
              <a:defRPr sz="800"/>
            </a:lvl9pPr>
          </a:lstStyle>
          <a:p>
            <a:endParaRPr lang="en-US"/>
          </a:p>
        </p:txBody>
      </p:sp>
      <p:sp>
        <p:nvSpPr>
          <p:cNvPr id="950" name="Text Placeholder 40"/>
          <p:cNvSpPr>
            <a:spLocks noGrp="1"/>
          </p:cNvSpPr>
          <p:nvPr>
            <p:ph type="body" sz="half" idx="40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Study design, materials and analysis approach.</a:t>
            </a:r>
          </a:p>
        </p:txBody>
      </p:sp>
      <p:sp>
        <p:nvSpPr>
          <p:cNvPr id="951" name="Text Placeholder 41"/>
          <p:cNvSpPr>
            <a:spLocks noGrp="1"/>
          </p:cNvSpPr>
          <p:nvPr>
            <p:ph type="body" sz="half" idx="41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Your key findings — this section gets the most space.</a:t>
            </a:r>
          </a:p>
        </p:txBody>
      </p:sp>
      <p:sp>
        <p:nvSpPr>
          <p:cNvPr id="952" name="Text Placeholder 42"/>
          <p:cNvSpPr>
            <a:spLocks noGrp="1"/>
          </p:cNvSpPr>
          <p:nvPr>
            <p:ph type="body" sz="half" idx="4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What the figures show — read them together here.</a:t>
            </a:r>
          </a:p>
        </p:txBody>
      </p:sp>
      <p:sp>
        <p:nvSpPr>
          <p:cNvPr id="953" name="Text Placeholder 43"/>
          <p:cNvSpPr>
            <a:spLocks noGrp="1"/>
          </p:cNvSpPr>
          <p:nvPr>
            <p:ph type="body" sz="half" idx="43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How your results relate to existing work.</a:t>
            </a:r>
          </a:p>
        </p:txBody>
      </p:sp>
      <p:sp>
        <p:nvSpPr>
          <p:cNvPr id="954" name="Text Placeholder 44"/>
          <p:cNvSpPr>
            <a:spLocks noGrp="1"/>
          </p:cNvSpPr>
          <p:nvPr>
            <p:ph type="body" sz="half" idx="44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Main takeaways in one or two sentences.</a:t>
            </a:r>
          </a:p>
        </p:txBody>
      </p:sp>
      <p:sp>
        <p:nvSpPr>
          <p:cNvPr id="955" name="Text Placeholder 45"/>
          <p:cNvSpPr>
            <a:spLocks noGrp="1"/>
          </p:cNvSpPr>
          <p:nvPr>
            <p:ph type="body" sz="half" idx="45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1. Author A, et al. Journal. Year;Vol(Issue):Pages.</a:t>
            </a:r>
          </a:p>
        </p:txBody>
      </p:sp>
      <p:sp>
        <p:nvSpPr>
          <p:cNvPr id="956" name="Text Placeholder 46"/>
          <p:cNvSpPr>
            <a:spLocks noGrp="1"/>
          </p:cNvSpPr>
          <p:nvPr>
            <p:ph type="body" sz="half" idx="46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Funding sources, collaborators and facilities.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fig.ai/go/a0pcn-al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cifig.ai/go/a0pcn-ftr" TargetMode="External"/><Relationship Id="rId4" Type="http://schemas.openxmlformats.org/officeDocument/2006/relationships/hyperlink" Target="https://scifig.ai/go/a0pcn-cl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scifig.ai/go/a0pcn-qrc" TargetMode="External"/><Relationship Id="rId5" Type="http://schemas.openxmlformats.org/officeDocument/2006/relationships/hyperlink" Target="https://scifig.ai/go/a0pcn-fig" TargetMode="External"/><Relationship Id="rId4" Type="http://schemas.openxmlformats.org/officeDocument/2006/relationships/hyperlink" Target="https://scifig.ai/go/a0pcn-ft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fo-band"/>
          <p:cNvSpPr/>
          <p:nvPr/>
        </p:nvSpPr>
        <p:spPr>
          <a:xfrm>
            <a:off x="0" y="0"/>
            <a:ext cx="30275784" cy="68484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info-size"/>
          <p:cNvSpPr txBox="1"/>
          <p:nvPr/>
        </p:nvSpPr>
        <p:spPr>
          <a:xfrm>
            <a:off x="1059789" y="1232728"/>
            <a:ext cx="28156204" cy="140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7225" b="1">
                <a:solidFill>
                  <a:srgbClr val="FFFFFF"/>
                </a:solidFill>
                <a:latin typeface="Arial"/>
              </a:rPr>
              <a:t>A0 Portrait</a:t>
            </a:r>
          </a:p>
        </p:txBody>
      </p:sp>
      <p:sp>
        <p:nvSpPr>
          <p:cNvPr id="4" name="info-spec"/>
          <p:cNvSpPr txBox="1"/>
          <p:nvPr/>
        </p:nvSpPr>
        <p:spPr>
          <a:xfrm>
            <a:off x="1059789" y="2851978"/>
            <a:ext cx="28156204" cy="2054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80" b="0">
                <a:solidFill>
                  <a:srgbClr val="E8EAEE"/>
                </a:solidFill>
                <a:latin typeface="Arial"/>
              </a:rPr>
              <a:t>841 × 1189 mm  ·  33.11 × 46.81 in  ·  Classic layout  ·  Navy</a:t>
            </a:r>
          </a:p>
        </p:txBody>
      </p:sp>
      <p:sp>
        <p:nvSpPr>
          <p:cNvPr id="5" name="info-block-1"/>
          <p:cNvSpPr/>
          <p:nvPr/>
        </p:nvSpPr>
        <p:spPr>
          <a:xfrm>
            <a:off x="1059789" y="7908279"/>
            <a:ext cx="13654186" cy="1616754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05957" y="8454447"/>
            <a:ext cx="12561851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25" b="1">
                <a:solidFill>
                  <a:schemeClr val="accent1"/>
                </a:solidFill>
                <a:latin typeface="Arial"/>
              </a:rPr>
              <a:t>HOW TO USE THIS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5957" y="9377419"/>
            <a:ext cx="12561851" cy="14152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804918" indent="-804918"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1.  Click the picture icon in any image box to insert your figure.</a:t>
            </a:r>
          </a:p>
          <a:p>
            <a:pPr marL="804918" indent="-804918"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2.  Click any gray prompt text and start typing — the prompt disappears on its own and never prints.</a:t>
            </a:r>
          </a:p>
          <a:p>
            <a:pPr marL="804918" indent="-804918"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3.  Add your institution logo in the box at the top left, and your own QR code next to the acknowledgements.</a:t>
            </a:r>
          </a:p>
          <a:p>
            <a:pPr marL="804918" indent="-804918"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4.  Delete this slide before you print or submit.</a:t>
            </a:r>
          </a:p>
        </p:txBody>
      </p:sp>
      <p:sp>
        <p:nvSpPr>
          <p:cNvPr id="8" name="info-block-2"/>
          <p:cNvSpPr/>
          <p:nvPr/>
        </p:nvSpPr>
        <p:spPr>
          <a:xfrm>
            <a:off x="15561807" y="7908279"/>
            <a:ext cx="13654186" cy="1616754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107975" y="8454447"/>
            <a:ext cx="12561851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25" b="1">
                <a:solidFill>
                  <a:schemeClr val="accent1"/>
                </a:solidFill>
                <a:latin typeface="Arial"/>
              </a:rPr>
              <a:t>WANT A DIFFERENT COLOR OR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07975" y="9377419"/>
            <a:ext cx="12561851" cy="12272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Every color and every layout is a separate file, so nothing has to be recolored by hand.</a:t>
            </a:r>
          </a:p>
          <a:p>
            <a:pPr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Colors:  navy · forest · crimson · teal · plum · graphite</a:t>
            </a:r>
          </a:p>
          <a:p>
            <a:pPr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Layouts:  Classic · Four Column · Spotlight</a:t>
            </a:r>
          </a:p>
          <a:p>
            <a:pPr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In PowerPoint you can also recolor with Design → Variants → Colors, but that menu does not exist in every app (WPS, Keynote, Google Slides), so downloading the color you want is the reliable route.</a:t>
            </a:r>
          </a:p>
        </p:txBody>
      </p:sp>
      <p:sp>
        <p:nvSpPr>
          <p:cNvPr id="11" name="info-links"/>
          <p:cNvSpPr txBox="1"/>
          <p:nvPr/>
        </p:nvSpPr>
        <p:spPr>
          <a:xfrm>
            <a:off x="16107975" y="21650043"/>
            <a:ext cx="12561851" cy="187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352">
                <a:latin typeface="Arial"/>
                <a:hlinkClick r:id="rId3"/>
              </a:rPr>
              <a:t>Find your size, layout and color</a:t>
            </a:r>
          </a:p>
          <a:p>
            <a:pPr>
              <a:lnSpc>
                <a:spcPct val="135000"/>
              </a:lnSpc>
            </a:pPr>
            <a:r>
              <a:rPr sz="4352">
                <a:latin typeface="Arial"/>
                <a:hlinkClick r:id="rId4"/>
              </a:rPr>
              <a:t>How to change the colors</a:t>
            </a:r>
          </a:p>
        </p:txBody>
      </p:sp>
      <p:sp>
        <p:nvSpPr>
          <p:cNvPr id="12" name="info-block-3"/>
          <p:cNvSpPr/>
          <p:nvPr/>
        </p:nvSpPr>
        <p:spPr>
          <a:xfrm>
            <a:off x="1059789" y="24923660"/>
            <a:ext cx="13654186" cy="1413712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05957" y="25469828"/>
            <a:ext cx="12561851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25" b="1">
                <a:solidFill>
                  <a:schemeClr val="accent1"/>
                </a:solidFill>
                <a:latin typeface="Arial"/>
              </a:rPr>
              <a:t>TYPE SIZES AND VIEWING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5957" y="26392800"/>
            <a:ext cx="12561851" cy="12121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Title 85 pt   ·   Section heading 45 pt   ·   Body 26 pt   ·   Caption 24 pt</a:t>
            </a:r>
          </a:p>
          <a:p>
            <a:pPr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These are set for reading from about one meter away, which is how far people stand from a poster. Keep body text at this size — shrinking it to fit more words is the most common reason a poster stops being readable.</a:t>
            </a:r>
          </a:p>
        </p:txBody>
      </p:sp>
      <p:sp>
        <p:nvSpPr>
          <p:cNvPr id="15" name="info-block-4"/>
          <p:cNvSpPr/>
          <p:nvPr/>
        </p:nvSpPr>
        <p:spPr>
          <a:xfrm>
            <a:off x="15561807" y="24923660"/>
            <a:ext cx="13654186" cy="1413712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107975" y="25469828"/>
            <a:ext cx="12561851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25" b="1">
                <a:solidFill>
                  <a:schemeClr val="accent1"/>
                </a:solidFill>
                <a:latin typeface="Arial"/>
              </a:rPr>
              <a:t>BEFORE YOU 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07975" y="26392800"/>
            <a:ext cx="12561851" cy="12121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804918" indent="-804918"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·  Check the size and orientation your meeting asks for. They differ, and a poster printed at the wrong size cannot be fixed on site.</a:t>
            </a:r>
          </a:p>
          <a:p>
            <a:pPr marL="804918" indent="-804918"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·  Export to PDF at 100% scale. Do not let the print shop rescale it.</a:t>
            </a:r>
          </a:p>
          <a:p>
            <a:pPr marL="804918" indent="-804918"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·  Use images of at least 300 dpi at the size they appear here.</a:t>
            </a:r>
          </a:p>
          <a:p>
            <a:pPr marL="804918" indent="-804918"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·  Check the file size limit and, for e-posters, the minimum pixel size.</a:t>
            </a:r>
          </a:p>
          <a:p>
            <a:pPr marL="804918" indent="-804918" algn="l">
              <a:lnSpc>
                <a:spcPct val="135000"/>
              </a:lnSpc>
            </a:pPr>
            <a:r>
              <a:rPr sz="4352" b="0">
                <a:solidFill>
                  <a:srgbClr val="1A1A1A"/>
                </a:solidFill>
                <a:latin typeface="Arial"/>
              </a:rPr>
              <a:t>·  Print a single A4 test page first and read it at arm's length.</a:t>
            </a:r>
          </a:p>
        </p:txBody>
      </p:sp>
      <p:sp>
        <p:nvSpPr>
          <p:cNvPr id="18" name="footer-band"/>
          <p:cNvSpPr/>
          <p:nvPr/>
        </p:nvSpPr>
        <p:spPr>
          <a:xfrm>
            <a:off x="0" y="41604285"/>
            <a:ext cx="30275784" cy="119877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footer-rule"/>
          <p:cNvSpPr/>
          <p:nvPr/>
        </p:nvSpPr>
        <p:spPr>
          <a:xfrm>
            <a:off x="0" y="41604285"/>
            <a:ext cx="30275784" cy="719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footer-credit"/>
          <p:cNvSpPr txBox="1"/>
          <p:nvPr/>
        </p:nvSpPr>
        <p:spPr>
          <a:xfrm>
            <a:off x="1059789" y="41963919"/>
            <a:ext cx="28156204" cy="53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>
                <a:solidFill>
                  <a:srgbClr val="5A5F66"/>
                </a:solidFill>
                <a:latin typeface="Arial"/>
              </a:rPr>
              <a:t>Free scientific poster template by SciFig AI  ·  </a:t>
            </a:r>
            <a:r>
              <a:rPr sz="2400">
                <a:latin typeface="Arial"/>
                <a:hlinkClick r:id="rId5"/>
              </a:rPr>
              <a:t>Generate your figures free with SciFig AI</a:t>
            </a:r>
          </a:p>
        </p:txBody>
      </p:sp>
      <p:sp>
        <p:nvSpPr>
          <p:cNvPr id="21" name="info-license"/>
          <p:cNvSpPr txBox="1"/>
          <p:nvPr/>
        </p:nvSpPr>
        <p:spPr>
          <a:xfrm>
            <a:off x="1059789" y="40190860"/>
            <a:ext cx="28156204" cy="883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60" b="0">
                <a:solidFill>
                  <a:srgbClr val="70767D"/>
                </a:solidFill>
                <a:latin typeface="Arial"/>
              </a:rPr>
              <a:t>Academic, research, teaching, and personal use allowed. Edit/print for your own poster/presentation; remove © SciFig AI only from finished work. Do not redistribute, sell, or paywall as your own template; keep © SciFig AI on distributed template files.</a:t>
            </a:r>
          </a:p>
        </p:txBody>
      </p:sp>
      <p:sp>
        <p:nvSpPr>
          <p:cNvPr id="22" name="info-delete-note"/>
          <p:cNvSpPr txBox="1"/>
          <p:nvPr/>
        </p:nvSpPr>
        <p:spPr>
          <a:xfrm>
            <a:off x="1059789" y="39672700"/>
            <a:ext cx="281562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60" b="0">
                <a:solidFill>
                  <a:srgbClr val="70767D"/>
                </a:solidFill>
                <a:latin typeface="Arial"/>
              </a:rPr>
              <a:t>Delete this slide before you print — the poster itself is on the next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eader-band"/>
          <p:cNvSpPr/>
          <p:nvPr/>
        </p:nvSpPr>
        <p:spPr>
          <a:xfrm>
            <a:off x="0" y="0"/>
            <a:ext cx="30275784" cy="436991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logo-backing"/>
          <p:cNvSpPr/>
          <p:nvPr/>
        </p:nvSpPr>
        <p:spPr>
          <a:xfrm>
            <a:off x="1741462" y="960421"/>
            <a:ext cx="2010162" cy="20101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1B67BD15-946E-0BDC-149F-445174793791}"/>
              </a:ext>
            </a:extLst>
          </p:cNvPr>
          <p:cNvPicPr>
            <a:picLocks noGrp="1" noChangeAspect="1"/>
          </p:cNvPicPr>
          <p:nvPr>
            <p:ph type="pic" idx="25"/>
          </p:nvPr>
        </p:nvPicPr>
        <p:blipFill>
          <a:blip r:embed="rId3"/>
          <a:srcRect/>
          <a:stretch>
            <a:fillRect/>
          </a:stretch>
        </p:blipFill>
        <p:spPr>
          <a:xfrm>
            <a:off x="1741488" y="960438"/>
            <a:ext cx="2009775" cy="2009775"/>
          </a:xfrm>
          <a:prstGeom prst="rect">
            <a:avLst/>
          </a:prstGeom>
        </p:spPr>
      </p:pic>
      <p:sp>
        <p:nvSpPr>
          <p:cNvPr id="21" name="logo-hint"/>
          <p:cNvSpPr txBox="1"/>
          <p:nvPr/>
        </p:nvSpPr>
        <p:spPr>
          <a:xfrm>
            <a:off x="635873" y="3091193"/>
            <a:ext cx="4221340" cy="229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6" b="0" dirty="0">
                <a:solidFill>
                  <a:srgbClr val="E8EAEE"/>
                </a:solidFill>
                <a:latin typeface="Arial"/>
              </a:rPr>
              <a:t>Your university or institution logo</a:t>
            </a:r>
          </a:p>
        </p:txBody>
      </p:sp>
      <p:sp>
        <p:nvSpPr>
          <p:cNvPr id="22" name="poster-title"/>
          <p:cNvSpPr txBox="1"/>
          <p:nvPr/>
        </p:nvSpPr>
        <p:spPr>
          <a:xfrm>
            <a:off x="5493087" y="539750"/>
            <a:ext cx="23934864" cy="138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0" b="1">
                <a:solidFill>
                  <a:srgbClr val="FFFFFF"/>
                </a:solidFill>
                <a:latin typeface="Arial"/>
              </a:rPr>
              <a:t>Your Research Poster Title Goes Here</a:t>
            </a:r>
          </a:p>
        </p:txBody>
      </p:sp>
      <p:sp>
        <p:nvSpPr>
          <p:cNvPr id="23" name="poster-authors"/>
          <p:cNvSpPr txBox="1"/>
          <p:nvPr/>
        </p:nvSpPr>
        <p:spPr>
          <a:xfrm>
            <a:off x="5493087" y="2207412"/>
            <a:ext cx="23934864" cy="953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0">
                <a:solidFill>
                  <a:srgbClr val="FFFFFF"/>
                </a:solidFill>
                <a:latin typeface="Arial"/>
              </a:rPr>
              <a:t>Author One¹, Author Two², Author Three¹</a:t>
            </a:r>
          </a:p>
        </p:txBody>
      </p:sp>
      <p:sp>
        <p:nvSpPr>
          <p:cNvPr id="24" name="poster-affiliations"/>
          <p:cNvSpPr txBox="1"/>
          <p:nvPr/>
        </p:nvSpPr>
        <p:spPr>
          <a:xfrm>
            <a:off x="5493087" y="3160420"/>
            <a:ext cx="23934864" cy="9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32" b="0">
                <a:solidFill>
                  <a:srgbClr val="E8EAEE"/>
                </a:solidFill>
                <a:latin typeface="Arial"/>
              </a:rPr>
              <a:t>¹Department, University · ²Institute, Organization</a:t>
            </a:r>
          </a:p>
        </p:txBody>
      </p:sp>
      <p:sp>
        <p:nvSpPr>
          <p:cNvPr id="25" name="footer-band"/>
          <p:cNvSpPr/>
          <p:nvPr/>
        </p:nvSpPr>
        <p:spPr>
          <a:xfrm>
            <a:off x="0" y="41604285"/>
            <a:ext cx="30275784" cy="119877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footer-rule"/>
          <p:cNvSpPr/>
          <p:nvPr/>
        </p:nvSpPr>
        <p:spPr>
          <a:xfrm>
            <a:off x="0" y="41604285"/>
            <a:ext cx="30275784" cy="719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footer-credit"/>
          <p:cNvSpPr txBox="1"/>
          <p:nvPr/>
        </p:nvSpPr>
        <p:spPr>
          <a:xfrm>
            <a:off x="1059789" y="41963919"/>
            <a:ext cx="28156204" cy="53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>
                <a:solidFill>
                  <a:srgbClr val="5A5F66"/>
                </a:solidFill>
                <a:latin typeface="Arial"/>
              </a:rPr>
              <a:t>Free scientific poster template by SciFig AI  ·  </a:t>
            </a:r>
            <a:r>
              <a:rPr sz="2400">
                <a:latin typeface="Arial"/>
                <a:hlinkClick r:id="rId4"/>
              </a:rPr>
              <a:t>Generate your figures free with SciFig AI</a:t>
            </a:r>
          </a:p>
        </p:txBody>
      </p:sp>
      <p:sp>
        <p:nvSpPr>
          <p:cNvPr id="28" name="sec-introd"/>
          <p:cNvSpPr/>
          <p:nvPr/>
        </p:nvSpPr>
        <p:spPr>
          <a:xfrm>
            <a:off x="1059789" y="4952801"/>
            <a:ext cx="8083387" cy="17556134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sec-introd-head"/>
          <p:cNvSpPr/>
          <p:nvPr/>
        </p:nvSpPr>
        <p:spPr>
          <a:xfrm>
            <a:off x="1059789" y="4952801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sec-introd-title"/>
          <p:cNvSpPr txBox="1"/>
          <p:nvPr/>
        </p:nvSpPr>
        <p:spPr>
          <a:xfrm>
            <a:off x="1237624" y="5169971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7624" y="6255821"/>
            <a:ext cx="7727718" cy="9643047"/>
          </a:xfrm>
        </p:spPr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37624" y="16076704"/>
            <a:ext cx="7727718" cy="5358833"/>
          </a:xfrm>
        </p:spPr>
        <p:txBody>
          <a:bodyPr/>
          <a:lstStyle/>
          <a:p>
            <a:endParaRPr/>
          </a:p>
        </p:txBody>
      </p:sp>
      <p:sp>
        <p:nvSpPr>
          <p:cNvPr id="31" name="fig-1-caption"/>
          <p:cNvSpPr txBox="1"/>
          <p:nvPr/>
        </p:nvSpPr>
        <p:spPr>
          <a:xfrm>
            <a:off x="1237624" y="21551453"/>
            <a:ext cx="7727718" cy="779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2" b="0">
                <a:solidFill>
                  <a:srgbClr val="1A1A1A"/>
                </a:solidFill>
                <a:latin typeface="Arial"/>
              </a:rPr>
              <a:t>Figure 1. Short caption — click to edit.</a:t>
            </a:r>
          </a:p>
          <a:p>
            <a:pPr>
              <a:lnSpc>
                <a:spcPct val="120000"/>
              </a:lnSpc>
            </a:pPr>
            <a:r>
              <a:rPr sz="1872">
                <a:solidFill>
                  <a:srgbClr val="1A1A1A"/>
                </a:solidFill>
                <a:latin typeface="Arial"/>
              </a:rPr>
              <a:t>Need this figure? Create one free with </a:t>
            </a:r>
            <a:r>
              <a:rPr sz="1872" b="1">
                <a:latin typeface="Arial"/>
                <a:hlinkClick r:id="rId5"/>
              </a:rPr>
              <a:t>SciFig AI</a:t>
            </a:r>
          </a:p>
        </p:txBody>
      </p:sp>
      <p:sp>
        <p:nvSpPr>
          <p:cNvPr id="32" name="sec-method"/>
          <p:cNvSpPr/>
          <p:nvPr/>
        </p:nvSpPr>
        <p:spPr>
          <a:xfrm>
            <a:off x="1059789" y="22879862"/>
            <a:ext cx="8083387" cy="18141538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sec-method-head"/>
          <p:cNvSpPr/>
          <p:nvPr/>
        </p:nvSpPr>
        <p:spPr>
          <a:xfrm>
            <a:off x="1059789" y="22879862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sec-method-title"/>
          <p:cNvSpPr txBox="1"/>
          <p:nvPr/>
        </p:nvSpPr>
        <p:spPr>
          <a:xfrm>
            <a:off x="1237624" y="23097032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half" idx="40"/>
          </p:nvPr>
        </p:nvSpPr>
        <p:spPr>
          <a:xfrm>
            <a:off x="1237624" y="24182882"/>
            <a:ext cx="7727718" cy="10228452"/>
          </a:xfrm>
        </p:spPr>
        <p:txBody>
          <a:bodyPr/>
          <a:lstStyle/>
          <a:p>
            <a:endParaRPr/>
          </a:p>
        </p:txBody>
      </p:sp>
      <p:sp>
        <p:nvSpPr>
          <p:cNvPr id="5" name="Picture Placeholder 4"/>
          <p:cNvSpPr>
            <a:spLocks noGrp="1"/>
          </p:cNvSpPr>
          <p:nvPr>
            <p:ph type="pic" idx="20"/>
          </p:nvPr>
        </p:nvSpPr>
        <p:spPr>
          <a:xfrm>
            <a:off x="1237624" y="34589169"/>
            <a:ext cx="7727718" cy="5358833"/>
          </a:xfrm>
        </p:spPr>
        <p:txBody>
          <a:bodyPr/>
          <a:lstStyle/>
          <a:p>
            <a:endParaRPr/>
          </a:p>
        </p:txBody>
      </p:sp>
      <p:sp>
        <p:nvSpPr>
          <p:cNvPr id="35" name="fig-2-caption"/>
          <p:cNvSpPr txBox="1"/>
          <p:nvPr/>
        </p:nvSpPr>
        <p:spPr>
          <a:xfrm>
            <a:off x="1237624" y="40063918"/>
            <a:ext cx="7727718" cy="779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2" b="0">
                <a:solidFill>
                  <a:srgbClr val="1A1A1A"/>
                </a:solidFill>
                <a:latin typeface="Arial"/>
              </a:rPr>
              <a:t>Figure 2. Short caption — click to edit.</a:t>
            </a:r>
          </a:p>
          <a:p>
            <a:pPr>
              <a:lnSpc>
                <a:spcPct val="120000"/>
              </a:lnSpc>
            </a:pPr>
            <a:r>
              <a:rPr sz="1872">
                <a:solidFill>
                  <a:srgbClr val="1A1A1A"/>
                </a:solidFill>
                <a:latin typeface="Arial"/>
              </a:rPr>
              <a:t>Need this figure? Create one free with </a:t>
            </a:r>
            <a:r>
              <a:rPr sz="1872" b="1">
                <a:latin typeface="Arial"/>
                <a:hlinkClick r:id="rId5"/>
              </a:rPr>
              <a:t>SciFig AI</a:t>
            </a:r>
          </a:p>
        </p:txBody>
      </p:sp>
      <p:sp>
        <p:nvSpPr>
          <p:cNvPr id="36" name="sec-result"/>
          <p:cNvSpPr/>
          <p:nvPr/>
        </p:nvSpPr>
        <p:spPr>
          <a:xfrm>
            <a:off x="9870125" y="4952801"/>
            <a:ext cx="10535533" cy="360685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sec-result-head"/>
          <p:cNvSpPr/>
          <p:nvPr/>
        </p:nvSpPr>
        <p:spPr>
          <a:xfrm>
            <a:off x="9870125" y="4952801"/>
            <a:ext cx="10535533" cy="10858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sec-result-title"/>
          <p:cNvSpPr txBox="1"/>
          <p:nvPr/>
        </p:nvSpPr>
        <p:spPr>
          <a:xfrm>
            <a:off x="10101906" y="5169971"/>
            <a:ext cx="10071970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half" idx="41"/>
          </p:nvPr>
        </p:nvSpPr>
        <p:spPr>
          <a:xfrm>
            <a:off x="10101906" y="6255821"/>
            <a:ext cx="10071970" cy="11133539"/>
          </a:xfrm>
        </p:spPr>
        <p:txBody>
          <a:bodyPr/>
          <a:lstStyle/>
          <a:p>
            <a:endParaRPr/>
          </a:p>
        </p:txBody>
      </p:sp>
      <p:sp>
        <p:nvSpPr>
          <p:cNvPr id="6" name="Picture Placeholder 5"/>
          <p:cNvSpPr>
            <a:spLocks noGrp="1"/>
          </p:cNvSpPr>
          <p:nvPr>
            <p:ph type="pic" idx="21"/>
          </p:nvPr>
        </p:nvSpPr>
        <p:spPr>
          <a:xfrm>
            <a:off x="10101906" y="17482072"/>
            <a:ext cx="8747619" cy="6326985"/>
          </a:xfrm>
        </p:spPr>
        <p:txBody>
          <a:bodyPr/>
          <a:lstStyle/>
          <a:p>
            <a:endParaRPr/>
          </a:p>
        </p:txBody>
      </p:sp>
      <p:sp>
        <p:nvSpPr>
          <p:cNvPr id="39" name="fig-3-caption"/>
          <p:cNvSpPr txBox="1"/>
          <p:nvPr/>
        </p:nvSpPr>
        <p:spPr>
          <a:xfrm>
            <a:off x="10101906" y="23940272"/>
            <a:ext cx="8747619" cy="779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2" b="0">
                <a:solidFill>
                  <a:srgbClr val="1A1A1A"/>
                </a:solidFill>
                <a:latin typeface="Arial"/>
              </a:rPr>
              <a:t>Figure 3. Short caption — click to edit.</a:t>
            </a:r>
          </a:p>
          <a:p>
            <a:pPr>
              <a:lnSpc>
                <a:spcPct val="120000"/>
              </a:lnSpc>
            </a:pPr>
            <a:r>
              <a:rPr sz="1872">
                <a:solidFill>
                  <a:srgbClr val="1A1A1A"/>
                </a:solidFill>
                <a:latin typeface="Arial"/>
              </a:rPr>
              <a:t>Need this figure? Create one free with </a:t>
            </a:r>
            <a:r>
              <a:rPr sz="1872" b="1">
                <a:latin typeface="Arial"/>
                <a:hlinkClick r:id="rId5"/>
              </a:rPr>
              <a:t>SciFig AI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idx="22"/>
          </p:nvPr>
        </p:nvSpPr>
        <p:spPr>
          <a:xfrm>
            <a:off x="10101906" y="24928524"/>
            <a:ext cx="8747619" cy="6326985"/>
          </a:xfrm>
        </p:spPr>
        <p:txBody>
          <a:bodyPr/>
          <a:lstStyle/>
          <a:p>
            <a:endParaRPr/>
          </a:p>
        </p:txBody>
      </p:sp>
      <p:sp>
        <p:nvSpPr>
          <p:cNvPr id="40" name="fig-4-caption"/>
          <p:cNvSpPr txBox="1"/>
          <p:nvPr/>
        </p:nvSpPr>
        <p:spPr>
          <a:xfrm>
            <a:off x="10101906" y="31386724"/>
            <a:ext cx="8747619" cy="779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2" b="0">
                <a:solidFill>
                  <a:srgbClr val="1A1A1A"/>
                </a:solidFill>
                <a:latin typeface="Arial"/>
              </a:rPr>
              <a:t>Figure 4. Short caption — click to edit.</a:t>
            </a:r>
          </a:p>
          <a:p>
            <a:pPr>
              <a:lnSpc>
                <a:spcPct val="120000"/>
              </a:lnSpc>
            </a:pPr>
            <a:r>
              <a:rPr sz="1872">
                <a:solidFill>
                  <a:srgbClr val="1A1A1A"/>
                </a:solidFill>
                <a:latin typeface="Arial"/>
              </a:rPr>
              <a:t>Need this figure? Create one free with </a:t>
            </a:r>
            <a:r>
              <a:rPr sz="1872" b="1">
                <a:latin typeface="Arial"/>
                <a:hlinkClick r:id="rId5"/>
              </a:rPr>
              <a:t>SciFig AI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idx="23"/>
          </p:nvPr>
        </p:nvSpPr>
        <p:spPr>
          <a:xfrm>
            <a:off x="10101906" y="32374976"/>
            <a:ext cx="8747619" cy="6326985"/>
          </a:xfrm>
        </p:spPr>
        <p:txBody>
          <a:bodyPr/>
          <a:lstStyle/>
          <a:p>
            <a:endParaRPr/>
          </a:p>
        </p:txBody>
      </p:sp>
      <p:sp>
        <p:nvSpPr>
          <p:cNvPr id="41" name="fig-5-caption"/>
          <p:cNvSpPr txBox="1"/>
          <p:nvPr/>
        </p:nvSpPr>
        <p:spPr>
          <a:xfrm>
            <a:off x="10101906" y="38833176"/>
            <a:ext cx="8747619" cy="779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2" b="0">
                <a:solidFill>
                  <a:srgbClr val="1A1A1A"/>
                </a:solidFill>
                <a:latin typeface="Arial"/>
              </a:rPr>
              <a:t>Figure 5. Short caption — click to edit.</a:t>
            </a:r>
          </a:p>
          <a:p>
            <a:pPr>
              <a:lnSpc>
                <a:spcPct val="120000"/>
              </a:lnSpc>
            </a:pPr>
            <a:r>
              <a:rPr sz="1872">
                <a:solidFill>
                  <a:srgbClr val="1A1A1A"/>
                </a:solidFill>
                <a:latin typeface="Arial"/>
              </a:rPr>
              <a:t>Need this figure? Create one free with </a:t>
            </a:r>
            <a:r>
              <a:rPr sz="1872" b="1">
                <a:latin typeface="Arial"/>
                <a:hlinkClick r:id="rId5"/>
              </a:rPr>
              <a:t>SciFig AI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half" idx="42"/>
          </p:nvPr>
        </p:nvSpPr>
        <p:spPr>
          <a:xfrm>
            <a:off x="10101906" y="39751893"/>
            <a:ext cx="10071970" cy="1037726"/>
          </a:xfrm>
        </p:spPr>
        <p:txBody>
          <a:bodyPr/>
          <a:lstStyle/>
          <a:p>
            <a:endParaRPr/>
          </a:p>
        </p:txBody>
      </p:sp>
      <p:sp>
        <p:nvSpPr>
          <p:cNvPr id="42" name="sec-discus"/>
          <p:cNvSpPr/>
          <p:nvPr/>
        </p:nvSpPr>
        <p:spPr>
          <a:xfrm>
            <a:off x="21132606" y="4952801"/>
            <a:ext cx="8083387" cy="12257528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sec-discus-head"/>
          <p:cNvSpPr/>
          <p:nvPr/>
        </p:nvSpPr>
        <p:spPr>
          <a:xfrm>
            <a:off x="21132606" y="4952801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sec-discus-title"/>
          <p:cNvSpPr txBox="1"/>
          <p:nvPr/>
        </p:nvSpPr>
        <p:spPr>
          <a:xfrm>
            <a:off x="21310441" y="5169971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DISCUSSION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half" idx="43"/>
          </p:nvPr>
        </p:nvSpPr>
        <p:spPr>
          <a:xfrm>
            <a:off x="21310441" y="6255821"/>
            <a:ext cx="7727718" cy="7318820"/>
          </a:xfrm>
        </p:spPr>
        <p:txBody>
          <a:bodyPr/>
          <a:lstStyle/>
          <a:p>
            <a:endParaRPr/>
          </a:p>
        </p:txBody>
      </p:sp>
      <p:sp>
        <p:nvSpPr>
          <p:cNvPr id="45" name="results-table-caption"/>
          <p:cNvSpPr txBox="1"/>
          <p:nvPr/>
        </p:nvSpPr>
        <p:spPr>
          <a:xfrm>
            <a:off x="21420993" y="13574641"/>
            <a:ext cx="7617166" cy="36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2" b="0">
                <a:solidFill>
                  <a:srgbClr val="1A1A1A"/>
                </a:solidFill>
                <a:latin typeface="Arial"/>
              </a:rPr>
              <a:t>Table 1. Short caption — click to edit.</a:t>
            </a:r>
          </a:p>
        </p:txBody>
      </p:sp>
      <p:graphicFrame>
        <p:nvGraphicFramePr>
          <p:cNvPr id="46" name="results-table"/>
          <p:cNvGraphicFramePr>
            <a:graphicFrameLocks noGrp="1"/>
          </p:cNvGraphicFramePr>
          <p:nvPr/>
        </p:nvGraphicFramePr>
        <p:xfrm>
          <a:off x="21420993" y="13996588"/>
          <a:ext cx="7506611" cy="31369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7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3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Study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B w="34671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B w="34671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Readout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B w="34671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B w="34671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>
                      <a:noFill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>
                      <a:noFill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>
                      <a:noFill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>
                      <a:noFill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671" cap="flat" cmpd="sng" algn="ctr">
                      <a:solidFill>
                        <a:srgbClr val="5A5F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671" cap="flat" cmpd="sng" algn="ctr">
                      <a:solidFill>
                        <a:srgbClr val="5A5F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671" cap="flat" cmpd="sng" algn="ctr">
                      <a:solidFill>
                        <a:srgbClr val="5A5F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671" cap="flat" cmpd="sng" algn="ctr">
                      <a:solidFill>
                        <a:srgbClr val="5A5F6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sec-conclu"/>
          <p:cNvSpPr/>
          <p:nvPr/>
        </p:nvSpPr>
        <p:spPr>
          <a:xfrm>
            <a:off x="21132606" y="17581257"/>
            <a:ext cx="8083387" cy="11769482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sec-conclu-head"/>
          <p:cNvSpPr/>
          <p:nvPr/>
        </p:nvSpPr>
        <p:spPr>
          <a:xfrm>
            <a:off x="21132606" y="17581257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sec-conclu-title"/>
          <p:cNvSpPr txBox="1"/>
          <p:nvPr/>
        </p:nvSpPr>
        <p:spPr>
          <a:xfrm>
            <a:off x="21310441" y="17798427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half" idx="44"/>
          </p:nvPr>
        </p:nvSpPr>
        <p:spPr>
          <a:xfrm>
            <a:off x="21310441" y="18884277"/>
            <a:ext cx="7727718" cy="4118010"/>
          </a:xfrm>
        </p:spPr>
        <p:txBody>
          <a:bodyPr/>
          <a:lstStyle/>
          <a:p>
            <a:endParaRPr/>
          </a:p>
        </p:txBody>
      </p:sp>
      <p:sp>
        <p:nvSpPr>
          <p:cNvPr id="9" name="Picture Placeholder 8"/>
          <p:cNvSpPr>
            <a:spLocks noGrp="1"/>
          </p:cNvSpPr>
          <p:nvPr>
            <p:ph type="pic" idx="24"/>
          </p:nvPr>
        </p:nvSpPr>
        <p:spPr>
          <a:xfrm>
            <a:off x="22237767" y="23180122"/>
            <a:ext cx="5873065" cy="5125038"/>
          </a:xfrm>
        </p:spPr>
        <p:txBody>
          <a:bodyPr/>
          <a:lstStyle/>
          <a:p>
            <a:endParaRPr/>
          </a:p>
        </p:txBody>
      </p:sp>
      <p:sp>
        <p:nvSpPr>
          <p:cNvPr id="50" name="fig-6-caption"/>
          <p:cNvSpPr txBox="1"/>
          <p:nvPr/>
        </p:nvSpPr>
        <p:spPr>
          <a:xfrm>
            <a:off x="22237767" y="28393256"/>
            <a:ext cx="5873065" cy="779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2" b="0">
                <a:solidFill>
                  <a:srgbClr val="1A1A1A"/>
                </a:solidFill>
                <a:latin typeface="Arial"/>
              </a:rPr>
              <a:t>Figure 6. Short caption — click to edit.</a:t>
            </a:r>
          </a:p>
          <a:p>
            <a:pPr>
              <a:lnSpc>
                <a:spcPct val="120000"/>
              </a:lnSpc>
            </a:pPr>
            <a:r>
              <a:rPr sz="1872">
                <a:solidFill>
                  <a:srgbClr val="1A1A1A"/>
                </a:solidFill>
                <a:latin typeface="Arial"/>
              </a:rPr>
              <a:t>Create figures free with </a:t>
            </a:r>
            <a:r>
              <a:rPr sz="1872" b="1">
                <a:latin typeface="Arial"/>
                <a:hlinkClick r:id="rId5"/>
              </a:rPr>
              <a:t>SciFig AI</a:t>
            </a:r>
          </a:p>
        </p:txBody>
      </p:sp>
      <p:sp>
        <p:nvSpPr>
          <p:cNvPr id="51" name="sec-refere"/>
          <p:cNvSpPr/>
          <p:nvPr/>
        </p:nvSpPr>
        <p:spPr>
          <a:xfrm>
            <a:off x="21132606" y="29721665"/>
            <a:ext cx="8083387" cy="5847008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sec-refere-head"/>
          <p:cNvSpPr/>
          <p:nvPr/>
        </p:nvSpPr>
        <p:spPr>
          <a:xfrm>
            <a:off x="21132606" y="29721665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sec-refere-title"/>
          <p:cNvSpPr txBox="1"/>
          <p:nvPr/>
        </p:nvSpPr>
        <p:spPr>
          <a:xfrm>
            <a:off x="21310441" y="29938835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half" idx="45"/>
          </p:nvPr>
        </p:nvSpPr>
        <p:spPr>
          <a:xfrm>
            <a:off x="21310441" y="31024685"/>
            <a:ext cx="7727718" cy="4366153"/>
          </a:xfrm>
        </p:spPr>
        <p:txBody>
          <a:bodyPr/>
          <a:lstStyle/>
          <a:p>
            <a:endParaRPr/>
          </a:p>
        </p:txBody>
      </p:sp>
      <p:sp>
        <p:nvSpPr>
          <p:cNvPr id="54" name="sec-acknow"/>
          <p:cNvSpPr/>
          <p:nvPr/>
        </p:nvSpPr>
        <p:spPr>
          <a:xfrm>
            <a:off x="21132606" y="35939600"/>
            <a:ext cx="8083387" cy="508180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sec-acknow-head"/>
          <p:cNvSpPr/>
          <p:nvPr/>
        </p:nvSpPr>
        <p:spPr>
          <a:xfrm>
            <a:off x="21132606" y="35939600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sec-acknow-title"/>
          <p:cNvSpPr txBox="1"/>
          <p:nvPr/>
        </p:nvSpPr>
        <p:spPr>
          <a:xfrm>
            <a:off x="21310441" y="36156770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ACKNOWLEDGEMENTS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half" idx="46"/>
          </p:nvPr>
        </p:nvSpPr>
        <p:spPr>
          <a:xfrm>
            <a:off x="21310441" y="37242620"/>
            <a:ext cx="6807929" cy="2776053"/>
          </a:xfrm>
        </p:spPr>
        <p:txBody>
          <a:bodyPr/>
          <a:lstStyle/>
          <a:p>
            <a:endParaRPr/>
          </a:p>
        </p:txBody>
      </p:sp>
      <p:sp>
        <p:nvSpPr>
          <p:cNvPr id="11" name="qr-slot"/>
          <p:cNvSpPr>
            <a:spLocks noGrp="1"/>
          </p:cNvSpPr>
          <p:nvPr>
            <p:ph type="pic" idx="26"/>
          </p:nvPr>
        </p:nvSpPr>
        <p:spPr>
          <a:xfrm>
            <a:off x="28225071" y="37295971"/>
            <a:ext cx="813088" cy="813088"/>
          </a:xfrm>
        </p:spPr>
        <p:txBody>
          <a:bodyPr/>
          <a:lstStyle/>
          <a:p>
            <a:endParaRPr/>
          </a:p>
        </p:txBody>
      </p:sp>
      <p:sp>
        <p:nvSpPr>
          <p:cNvPr id="57" name="qr-slot-hint"/>
          <p:cNvSpPr txBox="1"/>
          <p:nvPr/>
        </p:nvSpPr>
        <p:spPr>
          <a:xfrm>
            <a:off x="21310441" y="40084666"/>
            <a:ext cx="7727718" cy="74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36" b="0">
                <a:solidFill>
                  <a:srgbClr val="70767D"/>
                </a:solidFill>
                <a:latin typeface="Arial"/>
              </a:rPr>
              <a:t>QR code to your full reference list, paper or data</a:t>
            </a:r>
          </a:p>
          <a:p>
            <a:pPr>
              <a:lnSpc>
                <a:spcPct val="115000"/>
              </a:lnSpc>
            </a:pPr>
            <a:r>
              <a:rPr sz="1536">
                <a:latin typeface="Arial"/>
                <a:hlinkClick r:id="rId6"/>
              </a:rPr>
              <a:t>Need one? Make a QR code free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5A5F66"/>
      </a:dk2>
      <a:lt2>
        <a:srgbClr val="F4F5F7"/>
      </a:lt2>
      <a:accent1>
        <a:srgbClr val="1B365D"/>
      </a:accent1>
      <a:accent2>
        <a:srgbClr val="8A7B5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365D"/>
      </a:hlink>
      <a:folHlink>
        <a:srgbClr val="1B36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Scientific Poster Template A0 Portrait Classic | SciFig AI</dc:title>
  <dc:subject>Scientific research poster template</dc:subject>
  <dc:creator>SciFig AI</dc:creator>
  <cp:keywords>scientific poster template a0, a0 poster template, research poster template portrait</cp:keywords>
  <dc:description>Academic, research, teaching, and personal use allowed. Edit/print for your own poster/presentation; remove © SciFig AI only from finished work. Do not redistribute, sell, or paywall as your own template; keep © SciFig AI on distributed template files.</dc:description>
  <cp:lastModifiedBy>Alan Royce</cp:lastModifiedBy>
  <cp:revision>2</cp:revision>
  <dcterms:created xsi:type="dcterms:W3CDTF">2013-01-27T09:14:16Z</dcterms:created>
  <dcterms:modified xsi:type="dcterms:W3CDTF">2026-09-19T12:34:02Z</dcterms:modified>
  <cp:category>Poster template</cp:category>
</cp:coreProperties>
</file>