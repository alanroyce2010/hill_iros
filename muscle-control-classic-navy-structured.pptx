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75" d="100"/>
          <a:sy n="75" d="100"/>
        </p:scale>
        <p:origin x="144" y="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3678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hyperlink" Target="https://scifig.ai/go/a0pcn-nte" TargetMode="External"/><Relationship Id="rId4" Type="http://schemas.openxmlformats.org/officeDocument/2006/relationships/hyperlink" Target="https://scifig.ai/go/a0pcn-all" TargetMode="External"/><Relationship Id="rId5" Type="http://schemas.openxmlformats.org/officeDocument/2006/relationships/hyperlink" Target="https://scifig.ai/go/a0pcn-clr" TargetMode="Externa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Abstract condensed from ICRA 2027 main.tex. Figure 1 is an editable conceptual overview. Numerical results are from the existing submission; no new experiments were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130"/>
            </a:lvl1pPr>
            <a:lvl2pPr marL="457200" indent="0">
              <a:buNone/>
              <a:defRPr sz="2130"/>
            </a:lvl2pPr>
            <a:lvl3pPr marL="914400" indent="0">
              <a:buNone/>
              <a:defRPr sz="2130"/>
            </a:lvl3pPr>
            <a:lvl4pPr marL="1371600" indent="0">
              <a:buNone/>
              <a:defRPr sz="2130"/>
            </a:lvl4pPr>
            <a:lvl5pPr marL="1828800" indent="0">
              <a:buNone/>
              <a:defRPr sz="2130"/>
            </a:lvl5pPr>
            <a:lvl6pPr marL="2286000" indent="0">
              <a:buNone/>
              <a:defRPr sz="2130"/>
            </a:lvl6pPr>
            <a:lvl7pPr marL="2743200" indent="0">
              <a:buNone/>
              <a:defRPr sz="2130"/>
            </a:lvl7pPr>
            <a:lvl8pPr marL="3200400" indent="0">
              <a:buNone/>
              <a:defRPr sz="2130"/>
            </a:lvl8pPr>
            <a:lvl9pPr marL="3657600" indent="0">
              <a:buNone/>
              <a:defRPr sz="213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Background and why this problem matters.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Picture Placeholder 20"/>
          <p:cNvSpPr>
            <a:spLocks noGrp="1"/>
          </p:cNvSpPr>
          <p:nvPr>
            <p:ph type="pic" idx="20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130"/>
            </a:lvl1pPr>
            <a:lvl2pPr marL="457200" indent="0">
              <a:buNone/>
              <a:defRPr sz="2130"/>
            </a:lvl2pPr>
            <a:lvl3pPr marL="914400" indent="0">
              <a:buNone/>
              <a:defRPr sz="2130"/>
            </a:lvl3pPr>
            <a:lvl4pPr marL="1371600" indent="0">
              <a:buNone/>
              <a:defRPr sz="2130"/>
            </a:lvl4pPr>
            <a:lvl5pPr marL="1828800" indent="0">
              <a:buNone/>
              <a:defRPr sz="2130"/>
            </a:lvl5pPr>
            <a:lvl6pPr marL="2286000" indent="0">
              <a:buNone/>
              <a:defRPr sz="2130"/>
            </a:lvl6pPr>
            <a:lvl7pPr marL="2743200" indent="0">
              <a:buNone/>
              <a:defRPr sz="2130"/>
            </a:lvl7pPr>
            <a:lvl8pPr marL="3200400" indent="0">
              <a:buNone/>
              <a:defRPr sz="2130"/>
            </a:lvl8pPr>
            <a:lvl9pPr marL="3657600" indent="0">
              <a:buNone/>
              <a:defRPr sz="2130"/>
            </a:lvl9pPr>
          </a:lstStyle>
          <a:p>
            <a:endParaRPr lang="en-US"/>
          </a:p>
        </p:txBody>
      </p:sp>
      <p:sp>
        <p:nvSpPr>
          <p:cNvPr id="901" name="Picture Placeholder 21"/>
          <p:cNvSpPr>
            <a:spLocks noGrp="1"/>
          </p:cNvSpPr>
          <p:nvPr>
            <p:ph type="pic" idx="2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11"/>
            </a:lvl1pPr>
            <a:lvl2pPr marL="457200" indent="0">
              <a:buNone/>
              <a:defRPr sz="2411"/>
            </a:lvl2pPr>
            <a:lvl3pPr marL="914400" indent="0">
              <a:buNone/>
              <a:defRPr sz="2411"/>
            </a:lvl3pPr>
            <a:lvl4pPr marL="1371600" indent="0">
              <a:buNone/>
              <a:defRPr sz="2411"/>
            </a:lvl4pPr>
            <a:lvl5pPr marL="1828800" indent="0">
              <a:buNone/>
              <a:defRPr sz="2411"/>
            </a:lvl5pPr>
            <a:lvl6pPr marL="2286000" indent="0">
              <a:buNone/>
              <a:defRPr sz="2411"/>
            </a:lvl6pPr>
            <a:lvl7pPr marL="2743200" indent="0">
              <a:buNone/>
              <a:defRPr sz="2411"/>
            </a:lvl7pPr>
            <a:lvl8pPr marL="3200400" indent="0">
              <a:buNone/>
              <a:defRPr sz="2411"/>
            </a:lvl8pPr>
            <a:lvl9pPr marL="3657600" indent="0">
              <a:buNone/>
              <a:defRPr sz="2411"/>
            </a:lvl9pPr>
          </a:lstStyle>
          <a:p>
            <a:endParaRPr lang="en-US"/>
          </a:p>
        </p:txBody>
      </p:sp>
      <p:sp>
        <p:nvSpPr>
          <p:cNvPr id="902" name="Picture Placeholder 22"/>
          <p:cNvSpPr>
            <a:spLocks noGrp="1"/>
          </p:cNvSpPr>
          <p:nvPr>
            <p:ph type="pic" idx="22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11"/>
            </a:lvl1pPr>
            <a:lvl2pPr marL="457200" indent="0">
              <a:buNone/>
              <a:defRPr sz="2411"/>
            </a:lvl2pPr>
            <a:lvl3pPr marL="914400" indent="0">
              <a:buNone/>
              <a:defRPr sz="2411"/>
            </a:lvl3pPr>
            <a:lvl4pPr marL="1371600" indent="0">
              <a:buNone/>
              <a:defRPr sz="2411"/>
            </a:lvl4pPr>
            <a:lvl5pPr marL="1828800" indent="0">
              <a:buNone/>
              <a:defRPr sz="2411"/>
            </a:lvl5pPr>
            <a:lvl6pPr marL="2286000" indent="0">
              <a:buNone/>
              <a:defRPr sz="2411"/>
            </a:lvl6pPr>
            <a:lvl7pPr marL="2743200" indent="0">
              <a:buNone/>
              <a:defRPr sz="2411"/>
            </a:lvl7pPr>
            <a:lvl8pPr marL="3200400" indent="0">
              <a:buNone/>
              <a:defRPr sz="2411"/>
            </a:lvl8pPr>
            <a:lvl9pPr marL="3657600" indent="0">
              <a:buNone/>
              <a:defRPr sz="2411"/>
            </a:lvl9pPr>
          </a:lstStyle>
          <a:p>
            <a:endParaRPr lang="en-US"/>
          </a:p>
        </p:txBody>
      </p:sp>
      <p:sp>
        <p:nvSpPr>
          <p:cNvPr id="903" name="Picture Placeholder 23"/>
          <p:cNvSpPr>
            <a:spLocks noGrp="1"/>
          </p:cNvSpPr>
          <p:nvPr>
            <p:ph type="pic" idx="23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11"/>
            </a:lvl1pPr>
            <a:lvl2pPr marL="457200" indent="0">
              <a:buNone/>
              <a:defRPr sz="2411"/>
            </a:lvl2pPr>
            <a:lvl3pPr marL="914400" indent="0">
              <a:buNone/>
              <a:defRPr sz="2411"/>
            </a:lvl3pPr>
            <a:lvl4pPr marL="1371600" indent="0">
              <a:buNone/>
              <a:defRPr sz="2411"/>
            </a:lvl4pPr>
            <a:lvl5pPr marL="1828800" indent="0">
              <a:buNone/>
              <a:defRPr sz="2411"/>
            </a:lvl5pPr>
            <a:lvl6pPr marL="2286000" indent="0">
              <a:buNone/>
              <a:defRPr sz="2411"/>
            </a:lvl6pPr>
            <a:lvl7pPr marL="2743200" indent="0">
              <a:buNone/>
              <a:defRPr sz="2411"/>
            </a:lvl7pPr>
            <a:lvl8pPr marL="3200400" indent="0">
              <a:buNone/>
              <a:defRPr sz="2411"/>
            </a:lvl8pPr>
            <a:lvl9pPr marL="3657600" indent="0">
              <a:buNone/>
              <a:defRPr sz="2411"/>
            </a:lvl9pPr>
          </a:lstStyle>
          <a:p>
            <a:endParaRPr lang="en-US"/>
          </a:p>
        </p:txBody>
      </p:sp>
      <p:sp>
        <p:nvSpPr>
          <p:cNvPr id="904" name="Picture Placeholder 24"/>
          <p:cNvSpPr>
            <a:spLocks noGrp="1"/>
          </p:cNvSpPr>
          <p:nvPr>
            <p:ph type="pic" idx="24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619"/>
            </a:lvl1pPr>
            <a:lvl2pPr marL="457200" indent="0">
              <a:buNone/>
              <a:defRPr sz="1619"/>
            </a:lvl2pPr>
            <a:lvl3pPr marL="914400" indent="0">
              <a:buNone/>
              <a:defRPr sz="1619"/>
            </a:lvl3pPr>
            <a:lvl4pPr marL="1371600" indent="0">
              <a:buNone/>
              <a:defRPr sz="1619"/>
            </a:lvl4pPr>
            <a:lvl5pPr marL="1828800" indent="0">
              <a:buNone/>
              <a:defRPr sz="1619"/>
            </a:lvl5pPr>
            <a:lvl6pPr marL="2286000" indent="0">
              <a:buNone/>
              <a:defRPr sz="1619"/>
            </a:lvl6pPr>
            <a:lvl7pPr marL="2743200" indent="0">
              <a:buNone/>
              <a:defRPr sz="1619"/>
            </a:lvl7pPr>
            <a:lvl8pPr marL="3200400" indent="0">
              <a:buNone/>
              <a:defRPr sz="1619"/>
            </a:lvl8pPr>
            <a:lvl9pPr marL="3657600" indent="0">
              <a:buNone/>
              <a:defRPr sz="1619"/>
            </a:lvl9pPr>
          </a:lstStyle>
          <a:p>
            <a:endParaRPr lang="en-US"/>
          </a:p>
        </p:txBody>
      </p:sp>
      <p:sp>
        <p:nvSpPr>
          <p:cNvPr id="905" name="Picture Placeholder 25"/>
          <p:cNvSpPr>
            <a:spLocks noGrp="1"/>
          </p:cNvSpPr>
          <p:nvPr>
            <p:ph type="pic" idx="25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800"/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  <a:lvl6pPr marL="2286000" indent="0">
              <a:buNone/>
              <a:defRPr sz="800"/>
            </a:lvl6pPr>
            <a:lvl7pPr marL="2743200" indent="0">
              <a:buNone/>
              <a:defRPr sz="800"/>
            </a:lvl7pPr>
            <a:lvl8pPr marL="3200400" indent="0">
              <a:buNone/>
              <a:defRPr sz="800"/>
            </a:lvl8pPr>
            <a:lvl9pPr marL="3657600" indent="0">
              <a:buNone/>
              <a:defRPr sz="800"/>
            </a:lvl9pPr>
          </a:lstStyle>
          <a:p>
            <a:endParaRPr lang="en-US"/>
          </a:p>
        </p:txBody>
      </p:sp>
      <p:sp>
        <p:nvSpPr>
          <p:cNvPr id="906" name="Picture Placeholder 26"/>
          <p:cNvSpPr>
            <a:spLocks noGrp="1"/>
          </p:cNvSpPr>
          <p:nvPr>
            <p:ph type="pic" idx="26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800"/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  <a:lvl6pPr marL="2286000" indent="0">
              <a:buNone/>
              <a:defRPr sz="800"/>
            </a:lvl6pPr>
            <a:lvl7pPr marL="2743200" indent="0">
              <a:buNone/>
              <a:defRPr sz="800"/>
            </a:lvl7pPr>
            <a:lvl8pPr marL="3200400" indent="0">
              <a:buNone/>
              <a:defRPr sz="800"/>
            </a:lvl8pPr>
            <a:lvl9pPr marL="3657600" indent="0">
              <a:buNone/>
              <a:defRPr sz="800"/>
            </a:lvl9pPr>
          </a:lstStyle>
          <a:p>
            <a:endParaRPr lang="en-US"/>
          </a:p>
        </p:txBody>
      </p:sp>
      <p:sp>
        <p:nvSpPr>
          <p:cNvPr id="950" name="Text Placeholder 40"/>
          <p:cNvSpPr>
            <a:spLocks noGrp="1"/>
          </p:cNvSpPr>
          <p:nvPr>
            <p:ph type="body" sz="half" idx="40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Study design, materials and analysis approach.</a:t>
            </a:r>
          </a:p>
        </p:txBody>
      </p:sp>
      <p:sp>
        <p:nvSpPr>
          <p:cNvPr id="951" name="Text Placeholder 41"/>
          <p:cNvSpPr>
            <a:spLocks noGrp="1"/>
          </p:cNvSpPr>
          <p:nvPr>
            <p:ph type="body" sz="half" idx="41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Your key findings — this section gets the most space.</a:t>
            </a:r>
          </a:p>
        </p:txBody>
      </p:sp>
      <p:sp>
        <p:nvSpPr>
          <p:cNvPr id="952" name="Text Placeholder 42"/>
          <p:cNvSpPr>
            <a:spLocks noGrp="1"/>
          </p:cNvSpPr>
          <p:nvPr>
            <p:ph type="body" sz="half" idx="4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What the figures show — read them together here.</a:t>
            </a:r>
          </a:p>
        </p:txBody>
      </p:sp>
      <p:sp>
        <p:nvSpPr>
          <p:cNvPr id="953" name="Text Placeholder 43"/>
          <p:cNvSpPr>
            <a:spLocks noGrp="1"/>
          </p:cNvSpPr>
          <p:nvPr>
            <p:ph type="body" sz="half" idx="43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How your results relate to existing work.</a:t>
            </a:r>
          </a:p>
        </p:txBody>
      </p:sp>
      <p:sp>
        <p:nvSpPr>
          <p:cNvPr id="954" name="Text Placeholder 44"/>
          <p:cNvSpPr>
            <a:spLocks noGrp="1"/>
          </p:cNvSpPr>
          <p:nvPr>
            <p:ph type="body" sz="half" idx="44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Main takeaways in one or two sentences.</a:t>
            </a:r>
          </a:p>
        </p:txBody>
      </p:sp>
      <p:sp>
        <p:nvSpPr>
          <p:cNvPr id="955" name="Text Placeholder 45"/>
          <p:cNvSpPr>
            <a:spLocks noGrp="1"/>
          </p:cNvSpPr>
          <p:nvPr>
            <p:ph type="body" sz="half" idx="45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1. Author A, et al. Journal. Year;Vol(Issue):Pages.</a:t>
            </a:r>
          </a:p>
        </p:txBody>
      </p:sp>
      <p:sp>
        <p:nvSpPr>
          <p:cNvPr id="956" name="Text Placeholder 46"/>
          <p:cNvSpPr>
            <a:spLocks noGrp="1"/>
          </p:cNvSpPr>
          <p:nvPr>
            <p:ph type="body" sz="half" idx="46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Funding sources, collaborators and facilities.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emf"/><Relationship Id="rId4" Type="http://schemas.openxmlformats.org/officeDocument/2006/relationships/hyperlink" Target="https://scifig.ai/go/a0pcn-ftr" TargetMode="External"/><Relationship Id="rId5" Type="http://schemas.openxmlformats.org/officeDocument/2006/relationships/hyperlink" Target="https://scifig.ai/go/a0pcn-fig" TargetMode="External"/><Relationship Id="rId6" Type="http://schemas.openxmlformats.org/officeDocument/2006/relationships/hyperlink" Target="https://scifig.ai/go/a0pcn-qrc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header-band"/>
          <p:cNvSpPr/>
          <p:nvPr/>
        </p:nvSpPr>
        <p:spPr>
          <a:xfrm>
            <a:off x="0" y="0"/>
            <a:ext cx="30275784" cy="436991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itle"/>
          <p:cNvSpPr txBox="1"/>
          <p:nvPr/>
        </p:nvSpPr>
        <p:spPr>
          <a:xfrm>
            <a:off x="1005840" y="502920"/>
            <a:ext cx="28254960" cy="150876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defRPr sz="7000" b="1">
                <a:solidFill>
                  <a:srgbClr val="FFFFFF"/>
                </a:solidFill>
                <a:latin typeface="Arial"/>
              </a:defRPr>
            </a:pPr>
            <a:r>
              <a:t>Non-Smooth Equilibria in Hill-Type Muscle Models</a:t>
            </a:r>
          </a:p>
        </p:txBody>
      </p:sp>
      <p:sp>
        <p:nvSpPr>
          <p:cNvPr id="21" name="subtitle"/>
          <p:cNvSpPr txBox="1"/>
          <p:nvPr/>
        </p:nvSpPr>
        <p:spPr>
          <a:xfrm>
            <a:off x="1005840" y="1783080"/>
            <a:ext cx="28254960" cy="77724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defRPr sz="4300" b="0">
                <a:solidFill>
                  <a:srgbClr val="FFFFFF"/>
                </a:solidFill>
                <a:latin typeface="Arial"/>
              </a:defRPr>
            </a:pPr>
            <a:r>
              <a:t>A Quantified Consequence for Linearization-Based Control</a:t>
            </a:r>
          </a:p>
        </p:txBody>
      </p:sp>
      <p:sp>
        <p:nvSpPr>
          <p:cNvPr id="22" name="author"/>
          <p:cNvSpPr txBox="1"/>
          <p:nvPr/>
        </p:nvSpPr>
        <p:spPr>
          <a:xfrm>
            <a:off x="1005840" y="2761488"/>
            <a:ext cx="28254960" cy="59436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defRPr sz="3600" b="0">
                <a:solidFill>
                  <a:srgbClr val="FFFFFF"/>
                </a:solidFill>
                <a:latin typeface="Arial"/>
              </a:defRPr>
            </a:pPr>
            <a:r>
              <a:t>Alan Royce Gabriel Samuel · Indian Institute of Technology Madras</a:t>
            </a:r>
          </a:p>
        </p:txBody>
      </p:sp>
      <p:sp>
        <p:nvSpPr>
          <p:cNvPr id="23" name="event"/>
          <p:cNvSpPr txBox="1"/>
          <p:nvPr/>
        </p:nvSpPr>
        <p:spPr>
          <a:xfrm>
            <a:off x="1005840" y="3502152"/>
            <a:ext cx="28254960" cy="54864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defRPr sz="2800" b="0">
                <a:solidFill>
                  <a:srgbClr val="FFFFFF"/>
                </a:solidFill>
                <a:latin typeface="Arial"/>
              </a:defRPr>
            </a:pPr>
            <a:r>
              <a:t>IROS 2026 · Workshop on Neuromuscular Robotics · Poster 5</a:t>
            </a:r>
          </a:p>
        </p:txBody>
      </p:sp>
      <p:sp>
        <p:nvSpPr>
          <p:cNvPr id="29" name="ABSTRACT panel"/>
          <p:cNvSpPr/>
          <p:nvPr/>
        </p:nvSpPr>
        <p:spPr>
          <a:xfrm>
            <a:off x="1060704" y="4846320"/>
            <a:ext cx="28154376" cy="3291840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ABSTRACT bar"/>
          <p:cNvSpPr/>
          <p:nvPr/>
        </p:nvSpPr>
        <p:spPr>
          <a:xfrm>
            <a:off x="1060704" y="4846320"/>
            <a:ext cx="28154376" cy="932688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ABSTRACT heading"/>
          <p:cNvSpPr txBox="1"/>
          <p:nvPr/>
        </p:nvSpPr>
        <p:spPr>
          <a:xfrm>
            <a:off x="1243584" y="5010912"/>
            <a:ext cx="27788616" cy="68580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32" name="concise abstract"/>
          <p:cNvSpPr txBox="1"/>
          <p:nvPr/>
        </p:nvSpPr>
        <p:spPr>
          <a:xfrm>
            <a:off x="1280160" y="5989320"/>
            <a:ext cx="27715464" cy="192024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200" b="0">
                <a:solidFill>
                  <a:srgbClr val="253446"/>
                </a:solidFill>
                <a:latin typeface="Arial"/>
              </a:defRPr>
            </a:pPr>
            <a:r>
              <a:t>Hill-type muscle models with switched activation dynamics have four directional linearizations at equilibrium. In a simulated elbow, choosing the wrong branch causes 14–75% prediction error. In closed-loop MPC, relinearizing at the measured state reduces lowering overshoot from 0.37° to 0.02°, showing that branch selection matters for prediction and transient control.</a:t>
            </a:r>
          </a:p>
        </p:txBody>
      </p:sp>
      <p:sp>
        <p:nvSpPr>
          <p:cNvPr id="33" name="INTRODUCTION panel"/>
          <p:cNvSpPr/>
          <p:nvPr/>
        </p:nvSpPr>
        <p:spPr>
          <a:xfrm>
            <a:off x="1060704" y="8503920"/>
            <a:ext cx="9144000" cy="6355080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INTRODUCTION bar"/>
          <p:cNvSpPr/>
          <p:nvPr/>
        </p:nvSpPr>
        <p:spPr>
          <a:xfrm>
            <a:off x="1060704" y="8503920"/>
            <a:ext cx="9144000" cy="932688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INTRODUCTION heading"/>
          <p:cNvSpPr txBox="1"/>
          <p:nvPr/>
        </p:nvSpPr>
        <p:spPr>
          <a:xfrm>
            <a:off x="1243584" y="8668512"/>
            <a:ext cx="8778240" cy="68580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6" name="introduction"/>
          <p:cNvSpPr txBox="1"/>
          <p:nvPr/>
        </p:nvSpPr>
        <p:spPr>
          <a:xfrm>
            <a:off x="1280160" y="9683496"/>
            <a:ext cx="8705088" cy="493776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7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Muscle models connect excitation to force in prostheses, exoskeletons, FES and tendon-driven robots. LQR and successive-linearization MPC use a local Jacobian to predict motion [1,2].</a:t>
            </a:r>
          </a:p>
          <a:p>
            <a:pPr algn="l">
              <a:lnSpc>
                <a:spcPct val="110000"/>
              </a:lnSpc>
              <a:spcAft>
                <a:spcPts val="17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But an equilibrium lies on two switches: excitation equals activation, and fibre velocity is zero. The perturbation direction selects one of four local models.</a:t>
            </a:r>
          </a:p>
          <a:p>
            <a:pPr algn="l">
              <a:lnSpc>
                <a:spcPct val="110000"/>
              </a:lnSpc>
              <a:spcAft>
                <a:spcPts val="17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We quantify the prediction error and test how much of it survives feedback.</a:t>
            </a:r>
          </a:p>
        </p:txBody>
      </p:sp>
      <p:sp>
        <p:nvSpPr>
          <p:cNvPr id="37" name="FIGURE 1 · PROJECT OVERVIEW panel"/>
          <p:cNvSpPr/>
          <p:nvPr/>
        </p:nvSpPr>
        <p:spPr>
          <a:xfrm>
            <a:off x="10570464" y="8503920"/>
            <a:ext cx="18644616" cy="6355080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FIGURE 1 · PROJECT OVERVIEW bar"/>
          <p:cNvSpPr/>
          <p:nvPr/>
        </p:nvSpPr>
        <p:spPr>
          <a:xfrm>
            <a:off x="10570464" y="8503920"/>
            <a:ext cx="18644616" cy="932688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FIGURE 1 · PROJECT OVERVIEW heading"/>
          <p:cNvSpPr txBox="1"/>
          <p:nvPr/>
        </p:nvSpPr>
        <p:spPr>
          <a:xfrm>
            <a:off x="10753344" y="8668512"/>
            <a:ext cx="18278856" cy="68580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FIGURE 1 · PROJECT OVERVIEW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853928" y="10058400"/>
            <a:ext cx="4160520" cy="2560320"/>
          </a:xfrm>
          <a:prstGeom prst="roundRect">
            <a:avLst/>
          </a:prstGeom>
          <a:solidFill>
            <a:srgbClr val="EDF3FA"/>
          </a:solidFill>
          <a:ln>
            <a:solidFill>
              <a:srgbClr val="386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USCLE + JOINT"/>
          <p:cNvSpPr txBox="1"/>
          <p:nvPr/>
        </p:nvSpPr>
        <p:spPr>
          <a:xfrm>
            <a:off x="10963655" y="10241280"/>
            <a:ext cx="3941063" cy="64008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2700" b="1">
                <a:solidFill>
                  <a:srgbClr val="1D3A60"/>
                </a:solidFill>
                <a:latin typeface="Arial"/>
              </a:defRPr>
            </a:pPr>
            <a:r>
              <a:t>MUSCLE + JOINT</a:t>
            </a:r>
          </a:p>
        </p:txBody>
      </p:sp>
      <p:sp>
        <p:nvSpPr>
          <p:cNvPr id="42" name="MUSCLE + JOINT detail"/>
          <p:cNvSpPr txBox="1"/>
          <p:nvPr/>
        </p:nvSpPr>
        <p:spPr>
          <a:xfrm>
            <a:off x="10963655" y="10991088"/>
            <a:ext cx="3941063" cy="1554479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2500" b="0">
                <a:solidFill>
                  <a:srgbClr val="253446"/>
                </a:solidFill>
                <a:latin typeface="Arial"/>
              </a:defRPr>
            </a:pPr>
            <a:r>
              <a:t>Excitation → activation</a:t>
            </a:r>
            <a:br/>
            <a:r>
              <a:t>→ force → elbow angle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444216" y="10058400"/>
            <a:ext cx="4160520" cy="2560320"/>
          </a:xfrm>
          <a:prstGeom prst="roundRect">
            <a:avLst/>
          </a:prstGeom>
          <a:solidFill>
            <a:srgbClr val="EDF3FA"/>
          </a:solidFill>
          <a:ln>
            <a:solidFill>
              <a:srgbClr val="386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WO SWITCHES"/>
          <p:cNvSpPr txBox="1"/>
          <p:nvPr/>
        </p:nvSpPr>
        <p:spPr>
          <a:xfrm>
            <a:off x="15553944" y="10241280"/>
            <a:ext cx="3941063" cy="64008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2700" b="1">
                <a:solidFill>
                  <a:srgbClr val="1D3A60"/>
                </a:solidFill>
                <a:latin typeface="Arial"/>
              </a:defRPr>
            </a:pPr>
            <a:r>
              <a:t>TWO SWITCHES</a:t>
            </a:r>
          </a:p>
        </p:txBody>
      </p:sp>
      <p:sp>
        <p:nvSpPr>
          <p:cNvPr id="45" name="TWO SWITCHES detail"/>
          <p:cNvSpPr txBox="1"/>
          <p:nvPr/>
        </p:nvSpPr>
        <p:spPr>
          <a:xfrm>
            <a:off x="15553944" y="10991088"/>
            <a:ext cx="3941063" cy="1554479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2500" b="0">
                <a:solidFill>
                  <a:srgbClr val="253446"/>
                </a:solidFill>
                <a:latin typeface="Arial"/>
              </a:defRPr>
            </a:pPr>
            <a:r>
              <a:t>u* = a*</a:t>
            </a:r>
            <a:br/>
            <a:r>
              <a:t>v* = 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034504" y="10058400"/>
            <a:ext cx="4160520" cy="2560320"/>
          </a:xfrm>
          <a:prstGeom prst="roundRect">
            <a:avLst/>
          </a:prstGeom>
          <a:solidFill>
            <a:srgbClr val="EDF3FA"/>
          </a:solidFill>
          <a:ln>
            <a:solidFill>
              <a:srgbClr val="386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OUR MODELS"/>
          <p:cNvSpPr txBox="1"/>
          <p:nvPr/>
        </p:nvSpPr>
        <p:spPr>
          <a:xfrm>
            <a:off x="20144232" y="10241280"/>
            <a:ext cx="3941063" cy="64008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2700" b="1">
                <a:solidFill>
                  <a:srgbClr val="1D3A60"/>
                </a:solidFill>
                <a:latin typeface="Arial"/>
              </a:defRPr>
            </a:pPr>
            <a:r>
              <a:t>FOUR MODELS</a:t>
            </a:r>
          </a:p>
        </p:txBody>
      </p:sp>
      <p:sp>
        <p:nvSpPr>
          <p:cNvPr id="48" name="FOUR MODELS detail"/>
          <p:cNvSpPr txBox="1"/>
          <p:nvPr/>
        </p:nvSpPr>
        <p:spPr>
          <a:xfrm>
            <a:off x="20144232" y="10991088"/>
            <a:ext cx="3941063" cy="1554479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2500" b="0">
                <a:solidFill>
                  <a:srgbClr val="253446"/>
                </a:solidFill>
                <a:latin typeface="Arial"/>
              </a:defRPr>
            </a:pPr>
            <a:r>
              <a:t>Activation branch ×</a:t>
            </a:r>
            <a:br/>
            <a:r>
              <a:t>velocity branch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624792" y="10058400"/>
            <a:ext cx="4160520" cy="2560320"/>
          </a:xfrm>
          <a:prstGeom prst="roundRect">
            <a:avLst/>
          </a:prstGeom>
          <a:solidFill>
            <a:srgbClr val="EDF3FA"/>
          </a:solidFill>
          <a:ln>
            <a:solidFill>
              <a:srgbClr val="386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ONTROL TEST"/>
          <p:cNvSpPr txBox="1"/>
          <p:nvPr/>
        </p:nvSpPr>
        <p:spPr>
          <a:xfrm>
            <a:off x="24734520" y="10241280"/>
            <a:ext cx="3941063" cy="64008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2700" b="1">
                <a:solidFill>
                  <a:srgbClr val="1D3A60"/>
                </a:solidFill>
                <a:latin typeface="Arial"/>
              </a:defRPr>
            </a:pPr>
            <a:r>
              <a:t>CONTROL TEST</a:t>
            </a:r>
          </a:p>
        </p:txBody>
      </p:sp>
      <p:sp>
        <p:nvSpPr>
          <p:cNvPr id="51" name="CONTROL TEST detail"/>
          <p:cNvSpPr txBox="1"/>
          <p:nvPr/>
        </p:nvSpPr>
        <p:spPr>
          <a:xfrm>
            <a:off x="24734520" y="10991088"/>
            <a:ext cx="3941063" cy="1554479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2500" b="0">
                <a:solidFill>
                  <a:srgbClr val="253446"/>
                </a:solidFill>
                <a:latin typeface="Arial"/>
              </a:defRPr>
            </a:pPr>
            <a:r>
              <a:t>Prediction horizon</a:t>
            </a:r>
            <a:br/>
            <a:r>
              <a:t>+ closed-loop MPC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15051024" y="11064240"/>
            <a:ext cx="365760" cy="411480"/>
          </a:xfrm>
          <a:prstGeom prst="rightArrow">
            <a:avLst/>
          </a:prstGeom>
          <a:solidFill>
            <a:srgbClr val="386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ight Arrow 52"/>
          <p:cNvSpPr/>
          <p:nvPr/>
        </p:nvSpPr>
        <p:spPr>
          <a:xfrm>
            <a:off x="19641312" y="11064240"/>
            <a:ext cx="365760" cy="411480"/>
          </a:xfrm>
          <a:prstGeom prst="rightArrow">
            <a:avLst/>
          </a:prstGeom>
          <a:solidFill>
            <a:srgbClr val="386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ight Arrow 53"/>
          <p:cNvSpPr/>
          <p:nvPr/>
        </p:nvSpPr>
        <p:spPr>
          <a:xfrm>
            <a:off x="24231600" y="11064240"/>
            <a:ext cx="365760" cy="411480"/>
          </a:xfrm>
          <a:prstGeom prst="rightArrow">
            <a:avLst/>
          </a:prstGeom>
          <a:solidFill>
            <a:srgbClr val="386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erview takeaway"/>
          <p:cNvSpPr txBox="1"/>
          <p:nvPr/>
        </p:nvSpPr>
        <p:spPr>
          <a:xfrm>
            <a:off x="10972800" y="12938760"/>
            <a:ext cx="17830800" cy="64008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  <a:defRPr sz="2900" b="1">
                <a:solidFill>
                  <a:srgbClr val="1D3A60"/>
                </a:solidFill>
                <a:latin typeface="Arial"/>
              </a:defRPr>
            </a:pPr>
            <a:r>
              <a:t>Wrong branch: 14–75% prediction error  |  Relinearize: 0.37° → 0.02° lowering overshoot</a:t>
            </a:r>
          </a:p>
        </p:txBody>
      </p:sp>
      <p:sp>
        <p:nvSpPr>
          <p:cNvPr id="56" name="overview caption"/>
          <p:cNvSpPr txBox="1"/>
          <p:nvPr/>
        </p:nvSpPr>
        <p:spPr>
          <a:xfrm>
            <a:off x="10972800" y="13825728"/>
            <a:ext cx="17830800" cy="749808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400" b="0">
                <a:solidFill>
                  <a:srgbClr val="253446"/>
                </a:solidFill>
                <a:latin typeface="Arial"/>
              </a:defRPr>
            </a:pPr>
            <a:r>
              <a:t>Figure 1. From equilibrium switching to controller performance. Read the active branch and update the local model at the measured state.</a:t>
            </a:r>
          </a:p>
        </p:txBody>
      </p:sp>
      <p:sp>
        <p:nvSpPr>
          <p:cNvPr id="57" name="RELATED WORK panel"/>
          <p:cNvSpPr/>
          <p:nvPr/>
        </p:nvSpPr>
        <p:spPr>
          <a:xfrm>
            <a:off x="1060704" y="15224760"/>
            <a:ext cx="9134856" cy="7315200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ELATED WORK bar"/>
          <p:cNvSpPr/>
          <p:nvPr/>
        </p:nvSpPr>
        <p:spPr>
          <a:xfrm>
            <a:off x="1060704" y="15224760"/>
            <a:ext cx="9134856" cy="932688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LATED WORK heading"/>
          <p:cNvSpPr txBox="1"/>
          <p:nvPr/>
        </p:nvSpPr>
        <p:spPr>
          <a:xfrm>
            <a:off x="1243584" y="15389352"/>
            <a:ext cx="8769096" cy="68580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RELATED WORK</a:t>
            </a:r>
          </a:p>
        </p:txBody>
      </p:sp>
      <p:sp>
        <p:nvSpPr>
          <p:cNvPr id="60" name="related work"/>
          <p:cNvSpPr txBox="1"/>
          <p:nvPr/>
        </p:nvSpPr>
        <p:spPr>
          <a:xfrm>
            <a:off x="1280160" y="16386048"/>
            <a:ext cx="8695944" cy="589788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7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Hill-type modelling. Thelen models activation and force generation; Millard et al. characterize computational muscle formulations [1,2].</a:t>
            </a:r>
          </a:p>
          <a:p>
            <a:pPr algn="l">
              <a:lnSpc>
                <a:spcPct val="110000"/>
              </a:lnSpc>
              <a:spcAft>
                <a:spcPts val="17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Smoothing. Kirsch et al. smooth torque–velocity dynamics; De Groote et al. smooth activation for optimization [3,4]. Here we measure the cost of branch choice at equilibrium.</a:t>
            </a:r>
          </a:p>
          <a:p>
            <a:pPr algn="l">
              <a:lnSpc>
                <a:spcPct val="110000"/>
              </a:lnSpc>
              <a:spcAft>
                <a:spcPts val="17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Non-smooth systems. Camlibel et al. give continuity conditions for bimodal linear systems [5]. Yeo et al. study a distinct force–length instability, not the activation-switch control problem [6].</a:t>
            </a:r>
          </a:p>
        </p:txBody>
      </p:sp>
      <p:sp>
        <p:nvSpPr>
          <p:cNvPr id="61" name="FORMULATION / MODEL panel"/>
          <p:cNvSpPr/>
          <p:nvPr/>
        </p:nvSpPr>
        <p:spPr>
          <a:xfrm>
            <a:off x="1060704" y="22905720"/>
            <a:ext cx="9134856" cy="18105120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FORMULATION / MODEL bar"/>
          <p:cNvSpPr/>
          <p:nvPr/>
        </p:nvSpPr>
        <p:spPr>
          <a:xfrm>
            <a:off x="1060704" y="22905720"/>
            <a:ext cx="9134856" cy="932688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FORMULATION / MODEL heading"/>
          <p:cNvSpPr txBox="1"/>
          <p:nvPr/>
        </p:nvSpPr>
        <p:spPr>
          <a:xfrm>
            <a:off x="1243584" y="23070312"/>
            <a:ext cx="8769096" cy="68580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FORMULATION / MODEL</a:t>
            </a:r>
          </a:p>
        </p:txBody>
      </p:sp>
      <p:sp>
        <p:nvSpPr>
          <p:cNvPr id="64" name="model"/>
          <p:cNvSpPr txBox="1"/>
          <p:nvPr/>
        </p:nvSpPr>
        <p:spPr>
          <a:xfrm>
            <a:off x="1280160" y="24076152"/>
            <a:ext cx="8695944" cy="429768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5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Plant: one elbow, a forearm–hand pendulum, and a rigid-tendon Hill-type brachialis. Muscle parameters follow Holzbaur; moment arms follow Murray [7,8].</a:t>
            </a:r>
          </a:p>
          <a:p>
            <a:pPr algn="l">
              <a:lnSpc>
                <a:spcPct val="110000"/>
              </a:lnSpc>
              <a:spcAft>
                <a:spcPts val="15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State x = [θ, θ̇, a]ᵀ; input u is neural excitation.</a:t>
            </a:r>
          </a:p>
          <a:p>
            <a:pPr algn="l">
              <a:lnSpc>
                <a:spcPct val="110000"/>
              </a:lnSpc>
              <a:spcAft>
                <a:spcPts val="15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Iθ̈ = Fᴹᵀ r(θ) − mglc sin θ</a:t>
            </a:r>
            <a:br/>
            <a:r>
              <a:t>v = −r(θ)θ̇ / l₀ᴹ</a:t>
            </a:r>
          </a:p>
        </p:txBody>
      </p:sp>
      <p:sp>
        <p:nvSpPr>
          <p:cNvPr id="65" name="activation equation"/>
          <p:cNvSpPr txBox="1"/>
          <p:nvPr/>
        </p:nvSpPr>
        <p:spPr>
          <a:xfrm>
            <a:off x="1280160" y="28136088"/>
            <a:ext cx="8695944" cy="201168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500"/>
              </a:spcAft>
              <a:defRPr sz="2800" b="0">
                <a:solidFill>
                  <a:srgbClr val="1D3A60"/>
                </a:solidFill>
                <a:latin typeface="Arial"/>
              </a:defRPr>
            </a:pPr>
            <a:r>
              <a:t>ȧ = (u − a) / τa</a:t>
            </a:r>
          </a:p>
          <a:p>
            <a:pPr algn="l">
              <a:lnSpc>
                <a:spcPct val="110000"/>
              </a:lnSpc>
              <a:spcAft>
                <a:spcPts val="1500"/>
              </a:spcAft>
              <a:defRPr sz="2800" b="0">
                <a:solidFill>
                  <a:srgbClr val="1D3A60"/>
                </a:solidFill>
                <a:latin typeface="Arial"/>
              </a:defRPr>
            </a:pPr>
            <a:r>
              <a:t>τa = τact (0.5 + 1.5a), when u &gt; a</a:t>
            </a:r>
            <a:br/>
            <a:r>
              <a:t>τa = τdeact / (0.5 + 1.5a), when u ≤ a</a:t>
            </a:r>
          </a:p>
        </p:txBody>
      </p:sp>
      <p:pic>
        <p:nvPicPr>
          <p:cNvPr id="66" name="fig1_kinks.pdf" descr="fig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304" y="30334522"/>
            <a:ext cx="8677656" cy="3110355"/>
          </a:xfrm>
          <a:prstGeom prst="rect">
            <a:avLst/>
          </a:prstGeom>
        </p:spPr>
      </p:pic>
      <p:sp>
        <p:nvSpPr>
          <p:cNvPr id="67" name="kinks caption"/>
          <p:cNvSpPr txBox="1"/>
          <p:nvPr/>
        </p:nvSpPr>
        <p:spPr>
          <a:xfrm>
            <a:off x="1289304" y="33649920"/>
            <a:ext cx="8677656" cy="91440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300" b="0">
                <a:solidFill>
                  <a:srgbClr val="253446"/>
                </a:solidFill>
                <a:latin typeface="Arial"/>
              </a:defRPr>
            </a:pPr>
            <a:r>
              <a:t>Figure 2. At θ* = 60° and a* = 0.113, the activation slope ratio is 7.45 and the velocity slope ratio is 2.</a:t>
            </a:r>
          </a:p>
        </p:txBody>
      </p:sp>
      <p:sp>
        <p:nvSpPr>
          <p:cNvPr id="68" name="local models"/>
          <p:cNvSpPr txBox="1"/>
          <p:nvPr/>
        </p:nvSpPr>
        <p:spPr>
          <a:xfrm>
            <a:off x="1280160" y="34820352"/>
            <a:ext cx="8695944" cy="361188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  <a:defRPr sz="2700" b="0">
                <a:solidFill>
                  <a:srgbClr val="253446"/>
                </a:solidFill>
                <a:latin typeface="Arial"/>
              </a:defRPr>
            </a:pPr>
            <a:r>
              <a:t>Four local models: δẋ = Aᵢδx + Bᵢδu.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  <a:defRPr sz="2700" b="0">
                <a:solidFill>
                  <a:srgbClr val="253446"/>
                </a:solidFill>
                <a:latin typeface="Arial"/>
              </a:defRPr>
            </a:pPr>
            <a:r>
              <a:t>Each switch satisfies A₁ − A₂ = ecᵀ and B₁ − B₂ = ed [5]; the two switches affect different Jacobian entries.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  <a:defRPr sz="2700" b="0">
                <a:solidFill>
                  <a:srgbClr val="253446"/>
                </a:solidFill>
                <a:latin typeface="Arial"/>
              </a:defRPr>
            </a:pPr>
            <a:r>
              <a:t>MPC: 10 ms sampling, 20-step horizon. Compare rules using the same plant and controller weights.</a:t>
            </a:r>
          </a:p>
        </p:txBody>
      </p:sp>
      <p:sp>
        <p:nvSpPr>
          <p:cNvPr id="69" name="RESULTS panel"/>
          <p:cNvSpPr/>
          <p:nvPr/>
        </p:nvSpPr>
        <p:spPr>
          <a:xfrm>
            <a:off x="10570464" y="15224760"/>
            <a:ext cx="9134856" cy="25786080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ESULTS bar"/>
          <p:cNvSpPr/>
          <p:nvPr/>
        </p:nvSpPr>
        <p:spPr>
          <a:xfrm>
            <a:off x="10570464" y="15224760"/>
            <a:ext cx="9134856" cy="932688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RESULTS heading"/>
          <p:cNvSpPr txBox="1"/>
          <p:nvPr/>
        </p:nvSpPr>
        <p:spPr>
          <a:xfrm>
            <a:off x="10753344" y="15389352"/>
            <a:ext cx="8769096" cy="68580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72" name="prediction result"/>
          <p:cNvSpPr txBox="1"/>
          <p:nvPr/>
        </p:nvSpPr>
        <p:spPr>
          <a:xfrm>
            <a:off x="10789920" y="16386048"/>
            <a:ext cx="8695944" cy="214884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defRPr sz="2700" b="0">
                <a:solidFill>
                  <a:srgbClr val="253446"/>
                </a:solidFill>
                <a:latin typeface="Arial"/>
              </a:defRPr>
            </a:pPr>
            <a:r>
              <a:t>Prediction: 14–75% wrong-branch error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defRPr sz="2700" b="0">
                <a:solidFill>
                  <a:srgbClr val="253446"/>
                </a:solidFill>
                <a:latin typeface="Arial"/>
              </a:defRPr>
            </a:pPr>
            <a:r>
              <a:t>Matched-branch error stays near 1% at the reference posture. With both branches wrong, error is ≥23% at every tested single-muscle equilibrium for activating steps.</a:t>
            </a:r>
          </a:p>
        </p:txBody>
      </p:sp>
      <p:pic>
        <p:nvPicPr>
          <p:cNvPr id="73" name="fig2_prediction.pdf" descr="figu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0993" y="18845784"/>
            <a:ext cx="8573797" cy="4023360"/>
          </a:xfrm>
          <a:prstGeom prst="rect">
            <a:avLst/>
          </a:prstGeom>
        </p:spPr>
      </p:pic>
      <p:sp>
        <p:nvSpPr>
          <p:cNvPr id="74" name="prediction caption"/>
          <p:cNvSpPr txBox="1"/>
          <p:nvPr/>
        </p:nvSpPr>
        <p:spPr>
          <a:xfrm>
            <a:off x="10799064" y="22951440"/>
            <a:ext cx="8677656" cy="82296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300" b="0">
                <a:solidFill>
                  <a:srgbClr val="253446"/>
                </a:solidFill>
                <a:latin typeface="Arial"/>
              </a:defRPr>
            </a:pPr>
            <a:r>
              <a:t>Figure 3. Response to a +0.01 excitation step: branch errors separate within 50–100 ms.</a:t>
            </a:r>
          </a:p>
        </p:txBody>
      </p:sp>
      <p:sp>
        <p:nvSpPr>
          <p:cNvPr id="75" name="feedback result"/>
          <p:cNvSpPr txBox="1"/>
          <p:nvPr/>
        </p:nvSpPr>
        <p:spPr>
          <a:xfrm>
            <a:off x="10789920" y="24021288"/>
            <a:ext cx="8695944" cy="178308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  <a:defRPr sz="2700" b="0">
                <a:solidFill>
                  <a:srgbClr val="253446"/>
                </a:solidFill>
                <a:latin typeface="Arial"/>
              </a:defRPr>
            </a:pPr>
            <a:r>
              <a:t>Feedback: transient quality remains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  <a:defRPr sz="2700" b="0">
                <a:solidFill>
                  <a:srgbClr val="253446"/>
                </a:solidFill>
                <a:latin typeface="Arial"/>
              </a:defRPr>
            </a:pPr>
            <a:r>
              <a:t>Central-difference blending gives 8–9× more raising overshoot than the naive, sign-test and relinearizing rules.</a:t>
            </a:r>
          </a:p>
        </p:txBody>
      </p:sp>
      <p:pic>
        <p:nvPicPr>
          <p:cNvPr id="76" name="fig4_closedloop.pdf" descr="figu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9064" y="26031376"/>
            <a:ext cx="8677656" cy="3578486"/>
          </a:xfrm>
          <a:prstGeom prst="rect">
            <a:avLst/>
          </a:prstGeom>
        </p:spPr>
      </p:pic>
      <p:sp>
        <p:nvSpPr>
          <p:cNvPr id="77" name="feedback caption"/>
          <p:cNvSpPr txBox="1"/>
          <p:nvPr/>
        </p:nvSpPr>
        <p:spPr>
          <a:xfrm>
            <a:off x="10799064" y="29727144"/>
            <a:ext cx="8677656" cy="82296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300" b="0">
                <a:solidFill>
                  <a:srgbClr val="253446"/>
                </a:solidFill>
                <a:latin typeface="Arial"/>
              </a:defRPr>
            </a:pPr>
            <a:r>
              <a:t>Figure 4. Raising and lowering steps. Updating the model at the measured state reduces lowering overshoot.</a:t>
            </a:r>
          </a:p>
        </p:txBody>
      </p:sp>
      <p:graphicFrame>
        <p:nvGraphicFramePr>
          <p:cNvPr id="78" name="Table 77"/>
          <p:cNvGraphicFramePr>
            <a:graphicFrameLocks noGrp="1"/>
          </p:cNvGraphicFramePr>
          <p:nvPr/>
        </p:nvGraphicFramePr>
        <p:xfrm>
          <a:off x="10799064" y="30860999"/>
          <a:ext cx="8677656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  <a:gridCol w="2093976"/>
              </a:tblGrid>
              <a:tr h="563880"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1D3A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1D3A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1D3A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Sine RMS</a:t>
                      </a:r>
                    </a:p>
                  </a:txBody>
                  <a:tcPr>
                    <a:solidFill>
                      <a:srgbClr val="1D3A6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Blended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Smoothed act.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Naive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Sign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Relinearize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0.02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0.149</a:t>
                      </a:r>
                    </a:p>
                  </a:txBody>
                  <a:tcPr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79" name="table caption"/>
          <p:cNvSpPr txBox="1"/>
          <p:nvPr/>
        </p:nvSpPr>
        <p:spPr>
          <a:xfrm>
            <a:off x="10799064" y="34408872"/>
            <a:ext cx="8677656" cy="64008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2300" b="0">
                <a:solidFill>
                  <a:srgbClr val="253446"/>
                </a:solidFill>
                <a:latin typeface="Arial"/>
              </a:defRPr>
            </a:pPr>
            <a:r>
              <a:t>Table 1. Overshoot and sine-tracking RMS, degrees.</a:t>
            </a:r>
          </a:p>
        </p:txBody>
      </p:sp>
      <p:sp>
        <p:nvSpPr>
          <p:cNvPr id="80" name="extensions results"/>
          <p:cNvSpPr txBox="1"/>
          <p:nvPr/>
        </p:nvSpPr>
        <p:spPr>
          <a:xfrm>
            <a:off x="10789920" y="35323272"/>
            <a:ext cx="8695944" cy="301752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  <a:defRPr sz="2700" b="0">
                <a:solidFill>
                  <a:srgbClr val="253446"/>
                </a:solidFill>
                <a:latin typeface="Arial"/>
              </a:defRPr>
            </a:pPr>
            <a:r>
              <a:t>Co-contraction can cancel the joint velocity kink, while adding a second activation switch.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  <a:defRPr sz="2700" b="0">
                <a:solidFill>
                  <a:srgbClr val="253446"/>
                </a:solidFill>
                <a:latin typeface="Arial"/>
              </a:defRPr>
            </a:pPr>
            <a:r>
              <a:t>Unmodelled delay can cause divergence; a predictor restored stability in the tested cases. Tracking rankings depend on weights and noise.</a:t>
            </a:r>
          </a:p>
        </p:txBody>
      </p:sp>
      <p:sp>
        <p:nvSpPr>
          <p:cNvPr id="81" name="CONCLUSION panel"/>
          <p:cNvSpPr/>
          <p:nvPr/>
        </p:nvSpPr>
        <p:spPr>
          <a:xfrm>
            <a:off x="20080224" y="15224760"/>
            <a:ext cx="9134856" cy="9464040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CONCLUSION bar"/>
          <p:cNvSpPr/>
          <p:nvPr/>
        </p:nvSpPr>
        <p:spPr>
          <a:xfrm>
            <a:off x="20080224" y="15224760"/>
            <a:ext cx="9134856" cy="932688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CONCLUSION heading"/>
          <p:cNvSpPr txBox="1"/>
          <p:nvPr/>
        </p:nvSpPr>
        <p:spPr>
          <a:xfrm>
            <a:off x="20263104" y="15389352"/>
            <a:ext cx="8769096" cy="68580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84" name="conclusion"/>
          <p:cNvSpPr txBox="1"/>
          <p:nvPr/>
        </p:nvSpPr>
        <p:spPr>
          <a:xfrm>
            <a:off x="20299680" y="16386048"/>
            <a:ext cx="8695944" cy="786384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9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Choose the branch as well as the operating point.</a:t>
            </a:r>
          </a:p>
          <a:p>
            <a:pPr algn="l">
              <a:lnSpc>
                <a:spcPct val="110000"/>
              </a:lnSpc>
              <a:spcAft>
                <a:spcPts val="19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1. Equilibria of the studied switched Hill-type model require directional local linearizations.</a:t>
            </a:r>
          </a:p>
          <a:p>
            <a:pPr algn="l">
              <a:lnSpc>
                <a:spcPct val="110000"/>
              </a:lnSpc>
              <a:spcAft>
                <a:spcPts val="19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2. Branch mismatch causes substantial prediction errors. Feedback reduces the effect to transient quality in the tested delay-free cases.</a:t>
            </a:r>
          </a:p>
          <a:p>
            <a:pPr algn="l">
              <a:lnSpc>
                <a:spcPct val="110000"/>
              </a:lnSpc>
              <a:spcAft>
                <a:spcPts val="19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3. Relinearize at the measured state, avoid central differences across a kink, and compensate delay.</a:t>
            </a:r>
          </a:p>
          <a:p>
            <a:pPr algn="l">
              <a:lnSpc>
                <a:spcPct val="110000"/>
              </a:lnSpc>
              <a:spcAft>
                <a:spcPts val="1900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Limits: simulation only; one joint, one or two muscles; no reflexes, short-range stiffness or history dependence. Hardware validation remains open.</a:t>
            </a:r>
          </a:p>
        </p:txBody>
      </p:sp>
      <p:sp>
        <p:nvSpPr>
          <p:cNvPr id="85" name="REFERENCES panel"/>
          <p:cNvSpPr/>
          <p:nvPr/>
        </p:nvSpPr>
        <p:spPr>
          <a:xfrm>
            <a:off x="20080224" y="25054560"/>
            <a:ext cx="9134856" cy="15956280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REFERENCES bar"/>
          <p:cNvSpPr/>
          <p:nvPr/>
        </p:nvSpPr>
        <p:spPr>
          <a:xfrm>
            <a:off x="20080224" y="25054560"/>
            <a:ext cx="9134856" cy="932688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REFERENCES heading"/>
          <p:cNvSpPr txBox="1"/>
          <p:nvPr/>
        </p:nvSpPr>
        <p:spPr>
          <a:xfrm>
            <a:off x="20263104" y="25219152"/>
            <a:ext cx="8769096" cy="68580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88" name="references"/>
          <p:cNvSpPr txBox="1"/>
          <p:nvPr/>
        </p:nvSpPr>
        <p:spPr>
          <a:xfrm>
            <a:off x="20299680" y="26243280"/>
            <a:ext cx="8695944" cy="1184148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800"/>
              </a:spcAft>
              <a:defRPr sz="2400" b="0">
                <a:solidFill>
                  <a:srgbClr val="253446"/>
                </a:solidFill>
                <a:latin typeface="Arial"/>
              </a:defRPr>
            </a:pPr>
            <a:r>
              <a:t>[1] Thelen DG (2003). Adjustment of muscle mechanics model parameters to simulate dynamic contractions in older adults. J Biomech Eng 125:70–77.</a:t>
            </a:r>
          </a:p>
          <a:p>
            <a:pPr algn="l">
              <a:lnSpc>
                <a:spcPct val="110000"/>
              </a:lnSpc>
              <a:spcAft>
                <a:spcPts val="1800"/>
              </a:spcAft>
              <a:defRPr sz="2400" b="0">
                <a:solidFill>
                  <a:srgbClr val="253446"/>
                </a:solidFill>
                <a:latin typeface="Arial"/>
              </a:defRPr>
            </a:pPr>
            <a:r>
              <a:t>[2] Millard M et al. (2013). Flexing computational muscle: modeling and simulation of musculotendon dynamics. J Biomech Eng 135:021005.</a:t>
            </a:r>
          </a:p>
          <a:p>
            <a:pPr algn="l">
              <a:lnSpc>
                <a:spcPct val="110000"/>
              </a:lnSpc>
              <a:spcAft>
                <a:spcPts val="1800"/>
              </a:spcAft>
              <a:defRPr sz="2400" b="0">
                <a:solidFill>
                  <a:srgbClr val="253446"/>
                </a:solidFill>
                <a:latin typeface="Arial"/>
              </a:defRPr>
            </a:pPr>
            <a:r>
              <a:t>[3] Kirsch NA et al. (2018). Model-based dynamic control allocation in a hybrid neuroprosthesis. IEEE TNSRE 26:224–232.</a:t>
            </a:r>
          </a:p>
          <a:p>
            <a:pPr algn="l">
              <a:lnSpc>
                <a:spcPct val="110000"/>
              </a:lnSpc>
              <a:spcAft>
                <a:spcPts val="1800"/>
              </a:spcAft>
              <a:defRPr sz="2400" b="0">
                <a:solidFill>
                  <a:srgbClr val="253446"/>
                </a:solidFill>
                <a:latin typeface="Arial"/>
              </a:defRPr>
            </a:pPr>
            <a:r>
              <a:t>[4] De Groote F et al. (2016). Evaluation of direct collocation optimal control problem formulations for solving the muscle redundancy problem. Ann Biomed Eng 44:2922–2936.</a:t>
            </a:r>
          </a:p>
          <a:p>
            <a:pPr algn="l">
              <a:lnSpc>
                <a:spcPct val="110000"/>
              </a:lnSpc>
              <a:spcAft>
                <a:spcPts val="1800"/>
              </a:spcAft>
              <a:defRPr sz="2400" b="0">
                <a:solidFill>
                  <a:srgbClr val="253446"/>
                </a:solidFill>
                <a:latin typeface="Arial"/>
              </a:defRPr>
            </a:pPr>
            <a:r>
              <a:t>[5] Camlibel MK, Heemels WPMH, Schumacher JM (2008). A full characterization of stabilizability of bimodal piecewise linear systems with scalar inputs. Automatica 44:1261–1267.</a:t>
            </a:r>
          </a:p>
          <a:p>
            <a:pPr algn="l">
              <a:lnSpc>
                <a:spcPct val="110000"/>
              </a:lnSpc>
              <a:spcAft>
                <a:spcPts val="1800"/>
              </a:spcAft>
              <a:defRPr sz="2400" b="0">
                <a:solidFill>
                  <a:srgbClr val="253446"/>
                </a:solidFill>
                <a:latin typeface="Arial"/>
              </a:defRPr>
            </a:pPr>
            <a:r>
              <a:t>[6] Yeo SH et al. (2023). Numerical instability of Hill-type muscle models. J R Soc Interface 20:20220430.</a:t>
            </a:r>
          </a:p>
          <a:p>
            <a:pPr algn="l">
              <a:lnSpc>
                <a:spcPct val="110000"/>
              </a:lnSpc>
              <a:spcAft>
                <a:spcPts val="1800"/>
              </a:spcAft>
              <a:defRPr sz="2400" b="0">
                <a:solidFill>
                  <a:srgbClr val="253446"/>
                </a:solidFill>
                <a:latin typeface="Arial"/>
              </a:defRPr>
            </a:pPr>
            <a:r>
              <a:t>[7] Holzbaur KRS, Murray WM, Delp SL (2005). A model of the upper extremity for simulating musculoskeletal surgery and analyzing neuromuscular control. Ann Biomed Eng 33:829–840.</a:t>
            </a:r>
          </a:p>
          <a:p>
            <a:pPr algn="l">
              <a:lnSpc>
                <a:spcPct val="110000"/>
              </a:lnSpc>
              <a:spcAft>
                <a:spcPts val="1800"/>
              </a:spcAft>
              <a:defRPr sz="2400" b="0">
                <a:solidFill>
                  <a:srgbClr val="253446"/>
                </a:solidFill>
                <a:latin typeface="Arial"/>
              </a:defRPr>
            </a:pPr>
            <a:r>
              <a:t>[8] Murray WM, Delp SL, Buchanan TS (1995). Variation of muscle moment arms with elbow and forearm position. J Biomech 28:513–525.</a:t>
            </a:r>
          </a:p>
        </p:txBody>
      </p:sp>
      <p:sp>
        <p:nvSpPr>
          <p:cNvPr id="89" name="footer"/>
          <p:cNvSpPr txBox="1"/>
          <p:nvPr/>
        </p:nvSpPr>
        <p:spPr>
          <a:xfrm>
            <a:off x="1060704" y="41742360"/>
            <a:ext cx="28154376" cy="640080"/>
          </a:xfrm>
          <a:prstGeom prst="rect">
            <a:avLst/>
          </a:prstGeom>
          <a:noFill/>
        </p:spPr>
        <p:txBody>
          <a:bodyPr wrap="square" lIns="27432" rIns="27432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2400" b="0">
                <a:solidFill>
                  <a:srgbClr val="1D3A60"/>
                </a:solidFill>
                <a:latin typeface="Arial"/>
              </a:defRPr>
            </a:pPr>
            <a:r>
              <a:t>bs22b001@smail.iitm.ac.in  |  github.com/alanroyce2010/hill_IROS  |  Layout adapted from SciFig AI Classic Navy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5A5F66"/>
      </a:dk2>
      <a:lt2>
        <a:srgbClr val="F4F5F7"/>
      </a:lt2>
      <a:accent1>
        <a:srgbClr val="1B365D"/>
      </a:accent1>
      <a:accent2>
        <a:srgbClr val="8A7B5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B365D"/>
      </a:hlink>
      <a:folHlink>
        <a:srgbClr val="1B36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Scientific Poster Template A0 Portrait Classic | SciFig AI</dc:title>
  <dc:subject>Scientific research poster template</dc:subject>
  <dc:creator>SciFig AI</dc:creator>
  <cp:keywords>scientific poster template a0, a0 poster template, research poster template portrait</cp:keywords>
  <dc:description>Academic, research, teaching, and personal use allowed. Edit/print for your own poster/presentation; remove © SciFig AI only from finished work. Do not redistribute, sell, or paywall as your own template; keep © SciFig AI on distributed template files.</dc:description>
  <cp:lastModifiedBy>Alan Royce</cp:lastModifiedBy>
  <cp:revision>2</cp:revision>
  <dcterms:created xsi:type="dcterms:W3CDTF">2013-01-27T09:14:16Z</dcterms:created>
  <dcterms:modified xsi:type="dcterms:W3CDTF">2026-09-19T12:34:02Z</dcterms:modified>
  <cp:category>Poster template</cp:category>
</cp:coreProperties>
</file>